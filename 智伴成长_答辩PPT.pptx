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custDataLst>
    <p:tags r:id="rId2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gs" Target="tags/tag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explosion val="0"/>
          <c:dPt>
            <c:idx val="0"/>
            <c:bubble3D val="0"/>
            <c:spPr>
              <a:solidFill>
                <a:srgbClr val="1F4E79"/>
              </a:solidFill>
            </c:spPr>
          </c:dPt>
          <c:dPt>
            <c:idx val="1"/>
            <c:bubble3D val="0"/>
            <c:spPr>
              <a:solidFill>
                <a:srgbClr val="2E75B6"/>
              </a:solidFill>
            </c:spPr>
          </c:dPt>
          <c:dPt>
            <c:idx val="2"/>
            <c:bubble3D val="0"/>
            <c:spPr>
              <a:solidFill>
                <a:srgbClr val="ED7D31"/>
              </a:solidFill>
            </c:spPr>
          </c:dPt>
          <c:dPt>
            <c:idx val="3"/>
            <c:bubble3D val="0"/>
            <c:spPr>
              <a:solidFill>
                <a:srgbClr val="A6C5E0"/>
              </a:solidFill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 c:formatCode="General">
                  <c:v>产品研发</c:v>
                </c:pt>
                <c:pt idx="1" c:formatCode="General">
                  <c:v>试点部署</c:v>
                </c:pt>
                <c:pt idx="2" c:formatCode="General">
                  <c:v>市场拓展</c:v>
                </c:pt>
                <c:pt idx="3" c:formatCode="General">
                  <c:v>运营储备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10</c:v>
                </c:pt>
                <c:pt idx="2">
                  <c:v>12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00" b="0" i="0" u="none" strike="noStrike" kern="1200" baseline="0">
              <a:solidFill>
                <a:srgbClr val="262626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FD3E6"/>
                </a:solidFill>
                <a:latin typeface="微软雅黑"/>
                <a:ea typeface="微软雅黑"/>
              </a:rPr>
              <a:t>大学生创新创业训练计划项目 · 立项答辩</a:t>
            </a:r>
            <a:endParaRPr sz="1500" b="0">
              <a:solidFill>
                <a:srgbClr val="BFD3E6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智伴成长</a:t>
            </a:r>
            <a:endParaRPr sz="5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1546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D9E2F3"/>
                </a:solidFill>
                <a:latin typeface="微软雅黑"/>
                <a:ea typeface="微软雅黑"/>
              </a:rPr>
              <a:t>—— 基于 AI 与朋辈导航的大学生全周期智能导学系统</a:t>
            </a:r>
            <a:endParaRPr sz="2000" b="0">
              <a:solidFill>
                <a:srgbClr val="D9E2F3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3886200"/>
            <a:ext cx="2377440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4B183"/>
                </a:solidFill>
                <a:latin typeface="微软雅黑"/>
                <a:ea typeface="微软雅黑"/>
              </a:rPr>
              <a:t>让每一段大学时光，都有智慧与温暖相伴</a:t>
            </a:r>
            <a:endParaRPr sz="1500" b="0">
              <a:solidFill>
                <a:srgbClr val="F4B183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10515600" cy="718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答辩人：徐麟阁　｜　团队成员：徐麟阁、董芮铭、章宇洲</a:t>
            </a:r>
            <a:endParaRPr sz="1300" b="0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指导教师：陈圣波</a:t>
            </a:r>
            <a:endParaRPr sz="1300" b="0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BFD3E6"/>
                </a:solidFill>
                <a:latin typeface="微软雅黑"/>
                <a:ea typeface="微软雅黑"/>
              </a:rPr>
              <a:t>2026 年 </a:t>
            </a:r>
            <a:r>
              <a:rPr lang="en-US" sz="1300" b="0">
                <a:solidFill>
                  <a:srgbClr val="BFD3E6"/>
                </a:solidFill>
                <a:latin typeface="微软雅黑"/>
                <a:ea typeface="微软雅黑"/>
              </a:rPr>
              <a:t>9</a:t>
            </a:r>
            <a:r>
              <a:rPr sz="1300" b="0">
                <a:solidFill>
                  <a:srgbClr val="BFD3E6"/>
                </a:solidFill>
                <a:latin typeface="微软雅黑"/>
                <a:ea typeface="微软雅黑"/>
              </a:rPr>
              <a:t> 月</a:t>
            </a:r>
            <a:endParaRPr sz="1300" b="0">
              <a:solidFill>
                <a:srgbClr val="BFD3E6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目录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02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8424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91640" y="188366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核心定位与市场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数字学长 · 双向痛点 · 市场规模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98424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86600" y="188366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产品与差异化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四层架构 · 四大模块 · 量化指标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22960" y="301752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326440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91640" y="316382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商业模式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B2B 订阅 · 三档定价 · 单校经济账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17920" y="301752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326440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86600" y="316382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竞争策略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错位竞争 · 三重壁垒 · 竞品对比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22960" y="429768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54456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91640" y="444398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财务与融资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三年预测 · 种子轮 50 万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7920" y="429768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454456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6600" y="444398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团队与规划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团队分工 · 导师支持 · 三年里程碑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22960" y="557784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5824727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691640" y="5724144"/>
            <a:ext cx="4023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风险与展望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Top3 风险应对 · 使命结语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核心定位：什么是“数字学长”？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03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0515600" cy="105156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一句话定义：</a:t>
            </a:r>
            <a:r>
              <a:rPr sz="1700" b="1">
                <a:solidFill>
                  <a:srgbClr val="262626"/>
                </a:solidFill>
                <a:latin typeface="微软雅黑"/>
                <a:ea typeface="微软雅黑"/>
              </a:rPr>
              <a:t>为每一位大学生配备的 7×24 在线智能导学助手——</a:t>
            </a:r>
            <a:endParaRPr sz="17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7F7F7F"/>
                </a:solidFill>
                <a:latin typeface="微软雅黑"/>
                <a:ea typeface="微软雅黑"/>
              </a:rPr>
              <a:t>将 AI 的高效与朋辈导师的亲和力结合，覆盖大学全周期成长</a:t>
            </a:r>
            <a:endParaRPr sz="14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高效的知识管理工具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“查什么、怎么办、去哪办”，三步之内得到答案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3484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527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导师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09160" y="37947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可靠的学业与生活导师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选课建议 · 挂科预警 · 关键节点主动提醒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陪伴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21040" y="379476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有温度的陪伴者</a:t>
            </a:r>
            <a:endParaRPr sz="16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情绪感知与心理支持 · 危机信号自动转介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三重角色 = 工具 + 导师 + 陪伴，覆盖“适应—成长—关怀”完整用户旅程</a:t>
            </a:r>
            <a:endParaRPr sz="13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市场痛点：学生端与学校端的双向困境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04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学生端之痛</a:t>
            </a:r>
            <a:endParaRPr sz="17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63640" y="13258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D7D31"/>
                </a:solidFill>
                <a:latin typeface="微软雅黑"/>
                <a:ea typeface="微软雅黑"/>
              </a:rPr>
              <a:t>学校端之痛</a:t>
            </a:r>
            <a:endParaRPr sz="17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28600" bIns="0" rtlCol="0" anchor="ctr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信息获取碎片化</a:t>
            </a:r>
            <a:endParaRPr sz="14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办事指南散落在官网、部门与聊天记录中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选课决策迷茫</a:t>
            </a:r>
            <a:endParaRPr sz="14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学长经验靠口口相传，缺乏系统化渠道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心理疏导滞后</a:t>
            </a:r>
            <a:endParaRPr sz="14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愿意倾诉、不愿当面求助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28600" bIns="0" rtlCol="0" anchor="ctr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辅导员“一对多”</a:t>
            </a:r>
            <a:endParaRPr sz="14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师生比不低于 1:200，难以兼顾个体需求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经验难以沉淀</a:t>
            </a:r>
            <a:endParaRPr sz="14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学长经验随毕业流失，无法代际传承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重复答疑负担重</a:t>
            </a:r>
            <a:endParaRPr sz="14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事务性咨询占用大量学工工时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2960" y="5532120"/>
            <a:ext cx="10515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双向痛点 → 一个方案：</a:t>
            </a:r>
            <a:r>
              <a:rPr sz="1350" b="1">
                <a:solidFill>
                  <a:srgbClr val="ED7D31"/>
                </a:solidFill>
                <a:latin typeface="微软雅黑"/>
                <a:ea typeface="微软雅黑"/>
              </a:rPr>
              <a:t>“智伴成长”数字学长</a:t>
            </a:r>
            <a:endParaRPr sz="1350" b="1">
              <a:solidFill>
                <a:srgbClr val="ED7D31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F7F7F"/>
                </a:solidFill>
                <a:latin typeface="微软雅黑"/>
                <a:ea typeface="微软雅黑"/>
              </a:rPr>
              <a:t>调研留痕：2026.09—10 问卷 ≥300 份 + 学工访谈，原始问卷/访谈记录/现场台账全程留存（可核验）</a:t>
            </a:r>
            <a:endParaRPr sz="10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市场规模：TAM / SAM / SOM 三层漏斗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05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83767" y="1600200"/>
            <a:ext cx="10424160" cy="105156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TAM　总体市场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15,000 万元/年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全国 3,000+ 所高校 × 年均 5 万元</a:t>
            </a:r>
            <a:endParaRPr sz="1150" b="0">
              <a:solidFill>
                <a:srgbClr val="EAEFF6"/>
              </a:solidFill>
              <a:latin typeface="微软雅黑"/>
              <a:ea typeface="微软雅黑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5949543" y="2633472"/>
            <a:ext cx="292608" cy="292608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98167" y="2971800"/>
            <a:ext cx="8595360" cy="105156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SAM　可服务市场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4,000 万元/年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具备采购意愿的本科院校约 800 所（约 27%）</a:t>
            </a:r>
            <a:endParaRPr sz="1150" b="0">
              <a:solidFill>
                <a:srgbClr val="EAEFF6"/>
              </a:solidFill>
              <a:latin typeface="微软雅黑"/>
              <a:ea typeface="微软雅黑"/>
            </a:endParaRPr>
          </a:p>
        </p:txBody>
      </p:sp>
      <p:sp>
        <p:nvSpPr>
          <p:cNvPr id="9" name="Down Arrow 8"/>
          <p:cNvSpPr/>
          <p:nvPr/>
        </p:nvSpPr>
        <p:spPr>
          <a:xfrm>
            <a:off x="5949543" y="4005072"/>
            <a:ext cx="292608" cy="292608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12567" y="4343400"/>
            <a:ext cx="6766560" cy="105156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SOM　可获取市场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200 万元/年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第 3 年累计签约 40 所 × 加权年费约 5 万元</a:t>
            </a:r>
            <a:endParaRPr sz="1150" b="0">
              <a:solidFill>
                <a:srgbClr val="EAEFF6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961120" y="5806440"/>
            <a:ext cx="2148840" cy="7315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约占 SAM 5%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即可达成目标</a:t>
            </a:r>
            <a:endParaRPr sz="11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7863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在校生约 3,800 万人 · 每年新增新生 1,000 万+ · 朋辈导学场景供给空白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产品总览：四层技术架构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06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00200" y="165506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31720" y="1581912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数据层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官网公告 · 办事流程 · 课程资料 · 学长经验 → 清洗去重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1600" y="256032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00200" y="275234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31720" y="2679191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知识层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Neo4j 知识图谱 + 向量数据库——“数字学长的大脑”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3" name="Down Arrow 12"/>
          <p:cNvSpPr/>
          <p:nvPr/>
        </p:nvSpPr>
        <p:spPr>
          <a:xfrm>
            <a:off x="5961888" y="3383279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71600" y="365760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0200" y="384962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331720" y="3776472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服务层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RAG 问答引擎 · 个性化推荐 · 上下文感知（情绪识别）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7" name="Down Arrow 16"/>
          <p:cNvSpPr/>
          <p:nvPr/>
        </p:nvSpPr>
        <p:spPr>
          <a:xfrm>
            <a:off x="5961888" y="4480560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71600" y="475488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9469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  <a:endParaRPr sz="1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331720" y="4873752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交互层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Electron 跨平台客户端 · 文字/语音交互 · 主动推送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技术底座：RAG 约束生成（答案可溯源） + 知识图谱关联推荐 + TextCNN 情绪识别</a:t>
            </a:r>
            <a:endParaRPr sz="125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四大功能模块：覆盖大学全周期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07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08760"/>
            <a:ext cx="109728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09928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</a:rPr>
              <a:t>生活导航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校园事务实操指引</a:t>
            </a:r>
            <a:endParaRPr sz="13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校园卡激活 · 宿舍水电 · 图书馆预约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109728" cy="1691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09928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学业规划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选课与成长指导</a:t>
            </a:r>
            <a:endParaRPr sz="13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选课组合建议 · 挂科风险提醒 · 学习转型指导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22960" y="347472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74720"/>
            <a:ext cx="109728" cy="1691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675887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ED7D31"/>
                </a:solidFill>
                <a:latin typeface="微软雅黑"/>
                <a:ea typeface="微软雅黑"/>
              </a:rPr>
              <a:t>心理疏导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情绪感知与支持</a:t>
            </a:r>
            <a:endParaRPr sz="13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情绪识别 · 心理调节方案 · 危机转介提醒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63640" y="347472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474720"/>
            <a:ext cx="109728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75887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</a:rPr>
              <a:t>校园融入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归属感建设</a:t>
            </a:r>
            <a:endParaRPr sz="13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社团推荐 · 校园文化传递 · 归属感建设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85800"/>
          </a:xfrm>
          <a:prstGeom prst="roundRect">
            <a:avLst>
              <a:gd name="adj" fmla="val 50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+ 个性化推荐与主动提醒：</a:t>
            </a: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选课截止 · 考试周 · 新生报到等 20+ 类关键节点主动推送</a:t>
            </a:r>
            <a:endParaRPr sz="140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差异化：错位竞争——“办事效率 vs 成长陪伴”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08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7F7F7F"/>
                </a:solidFill>
                <a:latin typeface="微软雅黑"/>
                <a:ea typeface="微软雅黑"/>
              </a:rPr>
              <a:t>竞品主场：办事效率</a:t>
            </a:r>
            <a:endParaRPr sz="1600" b="1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72200" y="132588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智伴成长：成长陪伴</a:t>
            </a:r>
            <a:endParaRPr sz="16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一卡通服务 · 事务办理 · 官方资讯问答</a:t>
            </a:r>
            <a:endParaRPr sz="14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金智教育（1,200+ 所高校）</a:t>
            </a:r>
            <a:endParaRPr sz="12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新开普（一卡通约 45% 份额）</a:t>
            </a:r>
            <a:endParaRPr sz="12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高校自研 AI 助手（清华/浙大等）</a:t>
            </a:r>
            <a:endParaRPr sz="12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选课避雷 · 学习方法 · 心理经验 · 社团融入</a:t>
            </a:r>
            <a:endParaRPr sz="1400" b="1">
              <a:solidFill>
                <a:srgbClr val="ED7D31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朋辈经验众包沉淀，代际传承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“数字学长”人格 + 情绪感知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无人系统化覆盖的空白地带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0" name="Oval 9"/>
          <p:cNvSpPr/>
          <p:nvPr/>
        </p:nvSpPr>
        <p:spPr>
          <a:xfrm>
            <a:off x="5294376" y="301752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错位</a:t>
            </a:r>
            <a:endParaRPr sz="16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策略：合作大于对抗（直销 + 被集成） · 单点极致 · 窗口期 1—2 年</a:t>
            </a:r>
            <a:endParaRPr sz="135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核心量化指标：差异化必须可验证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09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55648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≥95%</a:t>
            </a:r>
            <a:endParaRPr sz="30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高频问答准确率</a:t>
            </a:r>
            <a:endParaRPr sz="13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Top 200 问题双盲抽检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55648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100%</a:t>
            </a:r>
            <a:endParaRPr sz="30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答案附来源可溯源</a:t>
            </a:r>
            <a:endParaRPr sz="13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系统强制机制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55648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D7D31"/>
                </a:solidFill>
                <a:latin typeface="微软雅黑"/>
                <a:ea typeface="微软雅黑"/>
              </a:rPr>
              <a:t>20+ 类</a:t>
            </a:r>
            <a:endParaRPr sz="3000" b="1">
              <a:solidFill>
                <a:srgbClr val="ED7D31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主动提醒场景</a:t>
            </a:r>
            <a:endParaRPr sz="13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选课/考试周/报到等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2296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21607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D7D31"/>
                </a:solidFill>
                <a:latin typeface="微软雅黑"/>
                <a:ea typeface="微软雅黑"/>
              </a:rPr>
              <a:t>≥85%</a:t>
            </a:r>
            <a:endParaRPr sz="3000" b="1">
              <a:solidFill>
                <a:srgbClr val="ED7D31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情绪识别准确率</a:t>
            </a:r>
            <a:endParaRPr sz="13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负面情绪 5 分钟内关怀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43484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721607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≥40%</a:t>
            </a:r>
            <a:endParaRPr sz="30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试点校月活跃率</a:t>
            </a:r>
            <a:endParaRPr sz="13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次月留存 ≥60%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4672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3721607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≤2 秒</a:t>
            </a:r>
            <a:endParaRPr sz="30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文字问答首字响应</a:t>
            </a:r>
            <a:endParaRPr sz="135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客户端埋点统计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口径说明：以上为 MVP/V1.0 验收目标值 + 验证方式，试点实测校准；</a:t>
            </a: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未达标不对外宣传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商业模式：B2B 订阅制，学校付费、学生免费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10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10515600" cy="6400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B2B2C：</a:t>
            </a:r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高校按年订阅（学生端完全免费） · 辅导员减负是学校的刚性需求</a:t>
            </a:r>
            <a:endParaRPr sz="1350" b="0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基础版</a:t>
            </a:r>
            <a:endParaRPr sz="17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2.98 万元/年</a:t>
            </a:r>
            <a:endParaRPr sz="2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万人以下院校 / 二级学院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RAG 问答 + 校园知识库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21762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主打</a:t>
            </a:r>
            <a:endParaRPr sz="12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09160" y="2606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标准版</a:t>
            </a:r>
            <a:endParaRPr sz="17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09160" y="315468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4.98 万元/年</a:t>
            </a:r>
            <a:endParaRPr sz="2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09160" y="379476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普通本科院校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+ 知识图谱 · 学业规划 · 主动提醒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4672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旗舰版</a:t>
            </a:r>
            <a:endParaRPr sz="17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15468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8.8 万元/年</a:t>
            </a:r>
            <a:endParaRPr sz="2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21040" y="3794760"/>
            <a:ext cx="2743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重点高校 / 多校区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+ 个性化推荐 · 私有化部署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销售结构：基础版 30% / 标准版 55% / 旗舰版 15% → 加权平均年费 4.95 万元</a:t>
            </a:r>
            <a:endParaRPr sz="13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首年另收实施与数据初始化费 0.5—2 万元（校均 0.8 万元） · 续费率假设 80%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单校经济账：首年即回本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11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首年（含实施费）</a:t>
            </a:r>
            <a:endParaRPr sz="16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续费年（第 2 年起）</a:t>
            </a:r>
            <a:endParaRPr sz="16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合同收入</a:t>
            </a:r>
            <a:endParaRPr sz="12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606040" y="1965960"/>
            <a:ext cx="3259836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7316" y="194767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5.75 万</a:t>
            </a:r>
            <a:endParaRPr sz="12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178040" y="1965960"/>
            <a:ext cx="2806293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5773" y="194767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4.95 万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1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单校毛利</a:t>
            </a:r>
            <a:endParaRPr sz="12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606040" y="2679191"/>
            <a:ext cx="172913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6610" y="2660903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3.05 万</a:t>
            </a:r>
            <a:endParaRPr sz="12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78040" y="2679191"/>
            <a:ext cx="1729130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8610" y="2660903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3.05 万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339242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全成本净贡献</a:t>
            </a:r>
            <a:endParaRPr sz="12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606040" y="3392424"/>
            <a:ext cx="425196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2676" y="337413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0.75 万</a:t>
            </a:r>
            <a:endParaRPr sz="12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178040" y="3392424"/>
            <a:ext cx="878738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8218" y="337413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1.55 万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4400" y="415137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毛利率：首年 53% → 续费年边际毛利率 62%（客户存续越久，利润越厚）</a:t>
            </a:r>
            <a:endParaRPr sz="12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22960" y="5623560"/>
            <a:ext cx="10515600" cy="77724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核心结论：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单校首年即回本 · LTV/CAC ≈ 3.7（健康线为 3）· 公司盈亏平衡点 15—16 所</a:t>
            </a:r>
            <a:endParaRPr sz="15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竞争壁垒：三重壁垒护城河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12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30552" y="1828800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182880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</a:rPr>
              <a:t>数据壁垒</a:t>
            </a:r>
            <a:endParaRPr sz="18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60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校园私域知识库 + 朋辈经验众包生态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——厂商与自研系统均不覆盖的数据形态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2432" y="182880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82880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63440" y="269748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</a:rPr>
              <a:t>场景壁垒</a:t>
            </a:r>
            <a:endParaRPr sz="18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63440" y="3337560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嵌入选课、报到、考试周关键节点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“用得上、离不开”的使用习惯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54312" y="1828800"/>
            <a:ext cx="685800" cy="6858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182880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  <a:endParaRPr sz="2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75320" y="269748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</a:rPr>
              <a:t>角色壁垒</a:t>
            </a:r>
            <a:endParaRPr sz="1800" b="1">
              <a:solidFill>
                <a:srgbClr val="2E75B6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75320" y="3337560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“数字学长”人格与情感联结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工具型竞品难以模仿的软性壁垒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打法：错位聚焦 · 单点极致 · 以快打慢 —— 1—2 年窗口期内完成 3 校标杆与 40 所目标</a:t>
            </a:r>
            <a:endParaRPr sz="135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竞品对比：错位优势一目了然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13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240280"/>
                <a:gridCol w="2240280"/>
                <a:gridCol w="2240280"/>
                <a:gridCol w="224028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  <a:endParaRPr sz="13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智伴成长</a:t>
                      </a:r>
                      <a:endParaRPr sz="13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厂商 AI 助手</a:t>
                      </a:r>
                      <a:endParaRPr sz="13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高校自研</a:t>
                      </a:r>
                      <a:endParaRPr sz="13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通用大模型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产品形态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数字学长 · 全周期导学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服务 App + 办事助手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校内问答机器人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通用对话助手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朋辈经验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众包沉淀 · 代际传承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基本不涉及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基本不涉及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主动提醒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20+ 类关键场景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服务办理类为主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较少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情感角色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学长人设 + 情绪感知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数字人客服（工具）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工具属性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通用人格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收费模式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B2B 年订阅</a:t>
                      </a:r>
                      <a:endParaRPr sz="1200" b="1">
                        <a:solidFill>
                          <a:srgbClr val="262626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项目制 / 平台费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校方投入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免费 / 订阅</a:t>
                      </a:r>
                      <a:endParaRPr sz="1150" b="0">
                        <a:solidFill>
                          <a:srgbClr val="7F7F7F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F7F7F"/>
                </a:solidFill>
                <a:latin typeface="微软雅黑"/>
                <a:ea typeface="微软雅黑"/>
              </a:rPr>
              <a:t>注：竞品信息依据公开资料整理（截至 2026 年 8 月）；完整版见商业计划书表 6-1。</a:t>
            </a:r>
            <a:endParaRPr sz="10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财务预测：三年收入与利润（万元）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14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0" y="1325880"/>
            <a:ext cx="201168" cy="1463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8563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营业收入</a:t>
            </a:r>
            <a:endParaRPr sz="11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281160" y="1325880"/>
            <a:ext cx="201168" cy="14630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3719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成本费用</a:t>
            </a:r>
            <a:endParaRPr sz="11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0" name="Oval 9"/>
          <p:cNvSpPr/>
          <p:nvPr/>
        </p:nvSpPr>
        <p:spPr>
          <a:xfrm>
            <a:off x="10351008" y="1307592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8875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D7D31"/>
                </a:solidFill>
                <a:latin typeface="微软雅黑"/>
                <a:ea typeface="微软雅黑"/>
              </a:rPr>
              <a:t>净利润</a:t>
            </a:r>
            <a:endParaRPr sz="1100" b="0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63040" y="56692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1 年（2027）</a:t>
            </a:r>
            <a:endParaRPr sz="12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828800" y="5146305"/>
            <a:ext cx="960120" cy="38581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3512" y="5105261"/>
            <a:ext cx="960120" cy="42685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4798833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23.5</a:t>
            </a:r>
            <a:endParaRPr sz="13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7791" y="4757789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26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303520" y="56692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2 年（2028）</a:t>
            </a:r>
            <a:endParaRPr sz="12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669280" y="4115277"/>
            <a:ext cx="960120" cy="141684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93992" y="4149755"/>
            <a:ext cx="960120" cy="138236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3767805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86.3</a:t>
            </a:r>
            <a:endParaRPr sz="13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48272" y="3802283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84.2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44000" y="566928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3 年（2029）</a:t>
            </a:r>
            <a:endParaRPr sz="12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509760" y="2094266"/>
            <a:ext cx="960120" cy="3437853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34472" y="2401276"/>
            <a:ext cx="960120" cy="313084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46794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209.4</a:t>
            </a:r>
            <a:endParaRPr sz="13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588752" y="2053804"/>
            <a:ext cx="1051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190.7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2788920" y="5481724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6040" y="5225692"/>
            <a:ext cx="731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-2.5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6629400" y="5391427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135395"/>
            <a:ext cx="731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+3.0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10469880" y="5123819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7000" y="4867787"/>
            <a:ext cx="7315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+19.3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80360" y="5482867"/>
            <a:ext cx="3749040" cy="90297"/>
          </a:xfrm>
          <a:prstGeom prst="line">
            <a:avLst/>
          </a:prstGeom>
          <a:ln w="28575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720840" y="5215259"/>
            <a:ext cx="3749040" cy="267608"/>
          </a:xfrm>
          <a:prstGeom prst="line">
            <a:avLst/>
          </a:prstGeom>
          <a:ln w="28575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" y="1325880"/>
            <a:ext cx="7223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累计签约：4 所 → 16 所 → 40 所</a:t>
            </a:r>
            <a:endParaRPr sz="130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第 2 年盈亏平衡 · 第 3 年净利率 9.2%（成长期 SaaS 合理区间）· 第 4 年起向 15%—25% 演进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融资需求：种子轮 50 万元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15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2062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F4E79"/>
                </a:solidFill>
                <a:latin typeface="微软雅黑"/>
                <a:ea typeface="微软雅黑"/>
              </a:rPr>
              <a:t>50</a:t>
            </a:r>
            <a:r>
              <a:rPr sz="2400" b="1">
                <a:solidFill>
                  <a:srgbClr val="1F4E79"/>
                </a:solidFill>
                <a:latin typeface="微软雅黑"/>
                <a:ea typeface="微软雅黑"/>
              </a:rPr>
              <a:t> 万元</a:t>
            </a:r>
            <a:endParaRPr sz="24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种子轮 · 拟出让股权 10%—15%</a:t>
            </a:r>
            <a:endParaRPr sz="15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7F7F7F"/>
                </a:solidFill>
                <a:latin typeface="微软雅黑"/>
                <a:ea typeface="微软雅黑"/>
              </a:rPr>
              <a:t>启动时点：2027 年 6 月</a:t>
            </a:r>
            <a:endParaRPr sz="13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7F7F7F"/>
                </a:solidFill>
                <a:latin typeface="微软雅黑"/>
                <a:ea typeface="微软雅黑"/>
              </a:rPr>
              <a:t>（大创结题 + 试点成效数据确认后）</a:t>
            </a:r>
            <a:endParaRPr sz="13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206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投资逻辑：</a:t>
            </a:r>
            <a:endParaRPr sz="135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结题背书 + 试点数据支撑估值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按 3—5 倍市销率，第 3 年估值约 630—1050 万元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577840" y="1463040"/>
          <a:ext cx="4206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784080" y="2011680"/>
            <a:ext cx="173736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20 万（40%）</a:t>
            </a:r>
            <a:endParaRPr sz="12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2E75B6"/>
                </a:solidFill>
                <a:latin typeface="微软雅黑"/>
                <a:ea typeface="微软雅黑"/>
              </a:rPr>
              <a:t>10 万（20%）</a:t>
            </a:r>
            <a:endParaRPr sz="1200" b="1">
              <a:solidFill>
                <a:srgbClr val="2E75B6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12 万（24%）</a:t>
            </a:r>
            <a:endParaRPr sz="1200" b="1">
              <a:solidFill>
                <a:srgbClr val="ED7D31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A6C5E0"/>
                </a:solidFill>
                <a:latin typeface="微软雅黑"/>
                <a:ea typeface="微软雅黑"/>
              </a:rPr>
              <a:t>8 万（16%）</a:t>
            </a:r>
            <a:endParaRPr sz="1200" b="1">
              <a:solidFill>
                <a:srgbClr val="A6C5E0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团队与导师：技术 × 商业双轮驱动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16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577840" cy="42062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002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核心团队（3 人，一人多角互补）</a:t>
            </a:r>
            <a:endParaRPr sz="1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8" name="Oval 7"/>
          <p:cNvSpPr/>
          <p:nvPr/>
        </p:nvSpPr>
        <p:spPr>
          <a:xfrm>
            <a:off x="1143000" y="2194560"/>
            <a:ext cx="146304" cy="146304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项目负责人 / 算法工程师</a:t>
            </a: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　徐麟阁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总体统筹 · 商业模式 · RAG 链路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0" name="Oval 9"/>
          <p:cNvSpPr/>
          <p:nvPr/>
        </p:nvSpPr>
        <p:spPr>
          <a:xfrm>
            <a:off x="1143000" y="2852928"/>
            <a:ext cx="146304" cy="146304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807208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知识工程师 / 前端工程师</a:t>
            </a: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　董芮铭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知识图谱 · 客户端开发 · 交互设计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3511296"/>
            <a:ext cx="146304" cy="146304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465576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运营与市场</a:t>
            </a: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　章宇洲</a:t>
            </a:r>
            <a:endParaRPr sz="12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内容运营 · 试点推广 · 合规管理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ED7D31"/>
                </a:solidFill>
                <a:latin typeface="微软雅黑"/>
                <a:ea typeface="微软雅黑"/>
              </a:rPr>
              <a:t>贡献台账（2026 新增评审项）：</a:t>
            </a:r>
            <a:r>
              <a:rPr sz="1050" b="0">
                <a:solidFill>
                  <a:srgbClr val="262626"/>
                </a:solidFill>
                <a:latin typeface="微软雅黑"/>
                <a:ea typeface="微软雅黑"/>
              </a:rPr>
              <a:t>徐麟阁—RAG 链路与财务模型；董芮铭—知识图谱与客户端；章宇洲—调研执行与内容运营，均可逐项核查</a:t>
            </a:r>
            <a:endParaRPr sz="10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75120" y="1417320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1645920"/>
            <a:ext cx="42062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指导教师：陈圣波</a:t>
            </a:r>
            <a:endParaRPr sz="1600" b="1">
              <a:solidFill>
                <a:srgbClr val="ED7D31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技术路线把关 · 商业模式辅导 · 融资与渠道引荐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2026 年 9 月前完成聘任；12 月前签署首份渠道合作备忘录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675120" y="3840480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977639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依托学校创新创业学院</a:t>
            </a:r>
            <a:endParaRPr sz="1400" b="1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创业辅导 · 场地支持 · 政策对接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75120" y="5029200"/>
            <a:ext cx="4709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已具备：Word2Vec · TextCNN · 医学知识图谱实训经验</a:t>
            </a:r>
            <a:endParaRPr sz="120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个人成长：以赛促学 · 学创融合（30 分评审项）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17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3291840" cy="27432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916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知识层</a:t>
            </a:r>
            <a:endParaRPr sz="16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62626"/>
                </a:solidFill>
                <a:latin typeface="微软雅黑"/>
                <a:ea typeface="微软雅黑"/>
              </a:rPr>
              <a:t>课本理论 → 项目实践迁移</a:t>
            </a:r>
            <a:endParaRPr sz="11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51560" y="2651760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Word2Vec → 检索语义匹配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TextCNN → 情绪识别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知识图谱实训 → Neo4j 校园图谱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291840" cy="27432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6916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能力层</a:t>
            </a:r>
            <a:endParaRPr sz="16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62626"/>
                </a:solidFill>
                <a:latin typeface="微软雅黑"/>
                <a:ea typeface="微软雅黑"/>
              </a:rPr>
              <a:t>从被动执行到牵头攻坚</a:t>
            </a:r>
            <a:endParaRPr sz="11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完成实训作业 → 独立设计四层架构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→ 牵头产品化与商业测算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291840" cy="27432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6916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E75B6"/>
                </a:solidFill>
                <a:latin typeface="微软雅黑"/>
                <a:ea typeface="微软雅黑"/>
              </a:rPr>
              <a:t>价值观层</a:t>
            </a:r>
            <a:endParaRPr sz="1600" b="1">
              <a:solidFill>
                <a:srgbClr val="2E75B6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75320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62626"/>
                </a:solidFill>
                <a:latin typeface="微软雅黑"/>
                <a:ea typeface="微软雅黑"/>
              </a:rPr>
              <a:t>专业服务朋辈互助</a:t>
            </a:r>
            <a:endParaRPr sz="115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20" y="2651760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用 AI 沉淀学长经验、代际传承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践行“让每一段大学时光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都有智慧与温暖相伴”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22960" y="4434840"/>
            <a:ext cx="105156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228600" bIns="0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ED7D31"/>
                </a:solidFill>
                <a:latin typeface="微软雅黑"/>
                <a:ea typeface="微软雅黑"/>
              </a:rPr>
              <a:t>困难—帮扶—解决：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【技术案例：RAG 检索召回率不足 → 导师陈圣波指导 + 多轮对比实验 → 攻克，掌握提示工程与检索优化】</a:t>
            </a:r>
            <a:endParaRPr sz="1100" b="0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l">
              <a:lnSpc>
                <a:spcPct val="112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【实践案例：调研问卷回收率低 → 依托创新创业学院渠道 + 辅导员协助 → 完成 ≥300 份有效样本】</a:t>
            </a:r>
            <a:endParaRPr sz="11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成果边界：核心技术（RAG 链路/知识图谱/客户端）由学生独立完成，导师仅技术把关；</a:t>
            </a:r>
            <a:endParaRPr sz="110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D7D31"/>
                </a:solidFill>
                <a:latin typeface="微软雅黑"/>
                <a:ea typeface="微软雅黑"/>
              </a:rPr>
              <a:t>调研全程留痕（原始问卷/访谈记录/台账），符合 2026 真实性一票否决要求</a:t>
            </a:r>
            <a:endParaRPr sz="11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里程碑：三年三步走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18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80160" y="4873752"/>
            <a:ext cx="9692640" cy="4114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74519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验证期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88720" y="228600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2026.09 — 2027.06</a:t>
            </a:r>
            <a:endParaRPr sz="130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校内跑通闭环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MVP · 成效报告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2331720" y="4745736"/>
            <a:ext cx="310896" cy="310896"/>
          </a:xfrm>
          <a:prstGeom prst="ellipse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签约 1—4 所</a:t>
            </a:r>
            <a:endParaRPr sz="14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2628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0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放量期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00600" y="228600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2027.07 — 2028.12</a:t>
            </a:r>
            <a:endParaRPr sz="130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800600" y="27432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公司化运营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渠道合作 · 盈亏平衡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943600" y="4745736"/>
            <a:ext cx="310896" cy="31089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50749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累计 16 所 · 年收入约 86 万</a:t>
            </a:r>
            <a:endParaRPr sz="14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13816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98280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平台期</a:t>
            </a:r>
            <a:endParaRPr sz="13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12480" y="228600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2029.01 — 2029.12</a:t>
            </a:r>
            <a:endParaRPr sz="1300" b="1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规模化复制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SaaS 多租户 · 增值服务</a:t>
            </a:r>
            <a:endParaRPr sz="115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9555480" y="4745736"/>
            <a:ext cx="310896" cy="310896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507492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E75B6"/>
                </a:solidFill>
                <a:latin typeface="微软雅黑"/>
                <a:ea typeface="微软雅黑"/>
              </a:rPr>
              <a:t>累计 40 所 · 年收入约 210 万</a:t>
            </a:r>
            <a:endParaRPr sz="1400" b="1">
              <a:solidFill>
                <a:srgbClr val="2E75B6"/>
              </a:solidFill>
              <a:latin typeface="微软雅黑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衔接大创周期：2026.09 立项 → 2027.06 结题（校内全量部署 + 首份成效报告）→ 公司化运营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风险与应对：Top 3</a:t>
            </a:r>
            <a:endParaRPr sz="25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19 / 20</a:t>
            </a:r>
            <a:endParaRPr sz="1000" b="0">
              <a:solidFill>
                <a:srgbClr val="7F7F7F"/>
              </a:solidFill>
              <a:latin typeface="微软雅黑"/>
              <a:ea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</a:rPr>
              <a:t>市场风险</a:t>
            </a:r>
            <a:endParaRPr sz="1800" b="1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采购周期长、预算不确定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011680" y="3383280"/>
            <a:ext cx="9144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566160"/>
            <a:ext cx="2834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学院级轻量入口 · 标杆案例背书 · 6 个月现金安全线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3484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</a:rPr>
              <a:t>技术风险</a:t>
            </a:r>
            <a:endParaRPr sz="18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56032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大模型“幻觉”损害口碑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623560" y="3383280"/>
            <a:ext cx="914400" cy="2743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566160"/>
            <a:ext cx="2834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ED7D31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RAG 约束生成 + 来源引用 · 白名单答案库 · 知识审核机制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4672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</a:rPr>
              <a:t>数据合规</a:t>
            </a:r>
            <a:endParaRPr sz="1800" b="1">
              <a:solidFill>
                <a:srgbClr val="2E75B6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75320" y="256032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学生隐私与安全审查</a:t>
            </a:r>
            <a:endParaRPr sz="125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35440" y="3383280"/>
            <a:ext cx="914400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566160"/>
            <a:ext cx="28346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2E75B6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私有化部署 · 最小化采集 · 脱敏训练 · 配合校方审查</a:t>
            </a:r>
            <a:endParaRPr sz="1200" b="0">
              <a:solidFill>
                <a:srgbClr val="262626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其余风险（政策/经营）应对详见商业计划书表 10-1；</a:t>
            </a: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整体原则：弹性成本与签约进度联动，保守扩张</a:t>
            </a:r>
            <a:endParaRPr sz="1200" b="1">
              <a:solidFill>
                <a:srgbClr val="262626"/>
              </a:solidFill>
              <a:latin typeface="微软雅黑"/>
              <a:ea typeface="微软雅黑"/>
            </a:endParaRPr>
          </a:p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D7D31"/>
                </a:solidFill>
                <a:latin typeface="微软雅黑"/>
                <a:ea typeface="微软雅黑"/>
              </a:rPr>
              <a:t>2026 规则红线：材料真实性一票否决——本项目数据保守测算并如实标注假设，知识产权由团队持有</a:t>
            </a:r>
            <a:endParaRPr sz="1100" b="1">
              <a:solidFill>
                <a:srgbClr val="ED7D31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2609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</a:rPr>
              <a:t>让每一段大学时光，都有智慧与温暖相伴</a:t>
            </a:r>
            <a:endParaRPr sz="34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76088" y="3611880"/>
            <a:ext cx="1645920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D9E2F3"/>
                </a:solidFill>
                <a:latin typeface="微软雅黑"/>
                <a:ea typeface="微软雅黑"/>
              </a:rPr>
              <a:t>从“数字学长”出发，构建可传承的校园知识生态</a:t>
            </a:r>
            <a:endParaRPr sz="1700" b="0">
              <a:solidFill>
                <a:srgbClr val="D9E2F3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4B183"/>
                </a:solidFill>
                <a:latin typeface="微软雅黑"/>
                <a:ea typeface="微软雅黑"/>
              </a:rPr>
              <a:t>恳请各位老师批评指正 · 谢谢聆听</a:t>
            </a:r>
            <a:endParaRPr sz="2000" b="1">
              <a:solidFill>
                <a:srgbClr val="F4B18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Mzg4ODM1MzA1YTY2ODFkOGM5ODgxZDNlMTAxYmRhM2Y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4311</Words>
  <Application>WPS 演示</Application>
  <PresentationFormat>On-screen Show (4:3)</PresentationFormat>
  <Paragraphs>543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3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微软雅黑</vt:lpstr>
      <vt:lpstr>宋体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徐麟阁</cp:lastModifiedBy>
  <cp:revision>2</cp:revision>
  <dcterms:created xsi:type="dcterms:W3CDTF">2026-09-02T10:20:07Z</dcterms:created>
  <dcterms:modified xsi:type="dcterms:W3CDTF">2026-09-02T10:20:07Z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A71E1500CAD52E8457F8976AE610E676_42</vt:lpwstr>
  </property>
  <property fmtid="{D5CDD505-2E9C-101B-9397-08002B2CF9AE}" pid="3" name="KSOProductBuildVer">
    <vt:lpwstr>2052-6.10.1.8873</vt:lpwstr>
  </property>
</Properties>
</file>