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资金用途</c:v>
                </c:pt>
              </c:strCache>
            </c:strRef>
          </c:tx>
          <c:dPt>
            <c:idx val="0"/>
            <c:spPr>
              <a:solidFill>
                <a:srgbClr val="1F4E79"/>
              </a:solidFill>
            </c:spPr>
          </c:dPt>
          <c:dPt>
            <c:idx val="1"/>
            <c:spPr>
              <a:solidFill>
                <a:srgbClr val="2E75B6"/>
              </a:solidFill>
            </c:spPr>
          </c:dPt>
          <c:dPt>
            <c:idx val="2"/>
            <c:spPr>
              <a:solidFill>
                <a:srgbClr val="ED7D31"/>
              </a:solidFill>
            </c:spPr>
          </c:dPt>
          <c:dPt>
            <c:idx val="3"/>
            <c:spPr>
              <a:solidFill>
                <a:srgbClr val="A6C5E0"/>
              </a:solidFill>
            </c:spPr>
          </c:dPt>
          <c:cat>
            <c:strRef>
              <c:f>Sheet1!$A$2:$A$5</c:f>
              <c:strCache>
                <c:ptCount val="4"/>
                <c:pt idx="0">
                  <c:v>产品研发</c:v>
                </c:pt>
                <c:pt idx="1">
                  <c:v>试点部署</c:v>
                </c:pt>
                <c:pt idx="2">
                  <c:v>市场拓展</c:v>
                </c:pt>
                <c:pt idx="3">
                  <c:v>运营储备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10</c:v>
                </c:pt>
                <c:pt idx="2">
                  <c:v>12</c:v>
                </c:pt>
                <c:pt idx="3">
                  <c:v>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1100">
              <a:solidFill>
                <a:srgbClr val="262626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FD3E6"/>
                </a:solidFill>
                <a:latin typeface="微软雅黑"/>
                <a:ea typeface="微软雅黑"/>
              </a:rPr>
              <a:t>大学生创新创业训练计划项目 · 立项答辩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</a:rPr>
              <a:t>智伴成长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54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D9E2F3"/>
                </a:solidFill>
                <a:latin typeface="微软雅黑"/>
                <a:ea typeface="微软雅黑"/>
              </a:rPr>
              <a:t>—— 基于 AI 与朋辈导航的大学生全周期智能导学系统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886200"/>
            <a:ext cx="2377440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4B183"/>
                </a:solidFill>
                <a:latin typeface="微软雅黑"/>
                <a:ea typeface="微软雅黑"/>
              </a:rPr>
              <a:t>让每一段大学时光，都有智慧与温暖相伴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3949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答辩人：徐麟阁　｜　团队成员：徐麟阁、董芮铭、章宇洲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指导教师：陈圣波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BFD3E6"/>
                </a:solidFill>
                <a:latin typeface="微软雅黑"/>
                <a:ea typeface="微软雅黑"/>
              </a:rPr>
              <a:t>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02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98424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88366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核心定位与市场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数字学长 · 双向痛点 · 市场规模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98424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88366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产品与差异化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四层架构 · 四大模块 · 量化指标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1752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326440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16382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商业模式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B2B 订阅 · 三档定价 · 单校经济账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1752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326440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16382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竞争策略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错位竞争 · 三重壁垒 · 竞品对比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9768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54456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4398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财务与融资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三年预测 · 种子轮 50 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29768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4544568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44398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团队与规划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团队分工 · 导师支持 · 三年里程碑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577840"/>
            <a:ext cx="50292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5824727"/>
            <a:ext cx="457200" cy="4572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724144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风险与展望</a:t>
            </a:r>
          </a:p>
          <a:p>
            <a:pPr algn="l">
              <a:lnSpc>
                <a:spcPct val="11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Top3 风险应对 · 使命结语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核心定位：什么是“数字学长”？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03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63040"/>
            <a:ext cx="10515600" cy="105156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一句话定义：</a:t>
            </a:r>
            <a:r>
              <a:rPr sz="1700" b="1">
                <a:solidFill>
                  <a:srgbClr val="262626"/>
                </a:solidFill>
                <a:latin typeface="微软雅黑"/>
                <a:ea typeface="微软雅黑"/>
              </a:rPr>
              <a:t>为每一位大学生配备的 7×24 在线智能导学助手——</a:t>
            </a:r>
          </a:p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7F7F7F"/>
                </a:solidFill>
                <a:latin typeface="微软雅黑"/>
                <a:ea typeface="微软雅黑"/>
              </a:rPr>
              <a:t>将 AI 的高效与朋辈导师的亲和力结合，覆盖大学全周期成长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9339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高效的知识管理工具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“查什么、怎么办、去哪办”，三步之内得到答案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0527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导师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79476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可靠的学业与生活导师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选课建议 · 挂科预警 · 关键节点主动提醒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971800"/>
            <a:ext cx="3291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17152" y="32004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陪伴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9476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微软雅黑"/>
                <a:ea typeface="微软雅黑"/>
              </a:rPr>
              <a:t>有温度的陪伴者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情绪感知与心理支持 · 危机信号自动转介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三重角色 = 工具 + 导师 + 陪伴，覆盖“适应—成长—关怀”完整用户旅程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市场痛点：学生端与学校端的双向困境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学生端之痛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32588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ED7D31"/>
                </a:solidFill>
                <a:latin typeface="微软雅黑"/>
                <a:ea typeface="微软雅黑"/>
              </a:rPr>
              <a:t>学校端之痛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28600" tIns="0" bIns="0" wrap="square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信息获取碎片化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办事指南散落在官网、部门与聊天记录中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选课决策迷茫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学长经验靠口口相传，缺乏系统化渠道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心理疏导滞后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愿意倾诉、不愿当面求助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228600" tIns="0" bIns="0" wrap="square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辅导员“一对多”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师生比不低于 1:200，难以兼顾个体需求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经验难以沉淀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学长经验随毕业流失，无法代际传承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▍</a:t>
            </a:r>
            <a:r>
              <a:rPr sz="1450" b="1">
                <a:solidFill>
                  <a:srgbClr val="262626"/>
                </a:solidFill>
                <a:latin typeface="微软雅黑"/>
                <a:ea typeface="微软雅黑"/>
              </a:rPr>
              <a:t>重复答疑负担重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事务性咨询占用大量学工工时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685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62626"/>
                </a:solidFill>
                <a:latin typeface="微软雅黑"/>
                <a:ea typeface="微软雅黑"/>
              </a:rPr>
              <a:t>双向痛点 → 一个方案：</a:t>
            </a: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“智伴成长”数字学长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市场规模：TAM / SAM / SOM 三层漏斗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05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1600200"/>
            <a:ext cx="10424160" cy="105156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TAM　总体市场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15,000 万元/年</a:t>
            </a: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全国 3,000+ 所高校 × 年均 5 万元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9543" y="2633472"/>
            <a:ext cx="292608" cy="292608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98167" y="2971800"/>
            <a:ext cx="8595360" cy="105156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SAM　可服务市场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4,000 万元/年</a:t>
            </a: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具备采购意愿的本科院校约 800 所（约 27%）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49543" y="4005072"/>
            <a:ext cx="292608" cy="292608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12567" y="4343400"/>
            <a:ext cx="6766560" cy="105156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SOM　可获取市场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　约 200 万元/年</a:t>
            </a:r>
          </a:p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EAEFF6"/>
                </a:solidFill>
                <a:latin typeface="微软雅黑"/>
                <a:ea typeface="微软雅黑"/>
              </a:rPr>
              <a:t>第 3 年累计签约 40 所 × 加权年费约 5 万元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5806440"/>
            <a:ext cx="2148840" cy="73152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约占 SAM 5%</a:t>
            </a: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即可达成目标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97880"/>
            <a:ext cx="7863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在校生约 3,800 万人 · 每年新增新生 1,000 万+ · 朋辈导学场景供给空白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产品总览：四层技术架构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06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6304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00200" y="165506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58191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数据层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官网公告 · 办事流程 · 课程资料 · 学长经验 → 清洗去重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1888" y="2286000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71600" y="256032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00200" y="275234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679191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知识层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Neo4j 知识图谱 + 向量数据库——“数字学长的大脑”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61888" y="3383279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71600" y="365760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0200" y="384962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77647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服务层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RAG 问答引擎 · 个性化推荐 · 上下文感知（情绪识别）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61888" y="4480560"/>
            <a:ext cx="274320" cy="237744"/>
          </a:xfrm>
          <a:prstGeom prst="downArrow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71600" y="4754880"/>
            <a:ext cx="9418320" cy="841248"/>
          </a:xfrm>
          <a:prstGeom prst="roundRect">
            <a:avLst>
              <a:gd name="adj" fmla="val 1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00200" y="49469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873752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交互层</a:t>
            </a: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　Electron 跨平台客户端 · 文字/语音交互 · 主动推送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98932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技术底座：RAG 约束生成（答案可溯源） + 知识图谱关联推荐 + TextCNN 情绪识别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四大功能模块：覆盖大学全周期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07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508760"/>
            <a:ext cx="109728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709928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</a:rPr>
              <a:t>生活导航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校园事务实操指引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校园卡激活 · 宿舍水电 · 图书馆预约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08760"/>
            <a:ext cx="109728" cy="1691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709928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学业规划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选课与成长指导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选课组合建议 · 挂科风险提醒 · 学习转型指导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7472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474720"/>
            <a:ext cx="109728" cy="16916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675887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ED7D31"/>
                </a:solidFill>
                <a:latin typeface="微软雅黑"/>
                <a:ea typeface="微软雅黑"/>
              </a:rPr>
              <a:t>心理疏导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情绪感知与支持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情绪识别 · 心理调节方案 · 危机转介提醒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474720"/>
            <a:ext cx="5120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474720"/>
            <a:ext cx="109728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75887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</a:rPr>
              <a:t>校园融入</a:t>
            </a:r>
            <a:r>
              <a:rPr sz="1300" b="0">
                <a:solidFill>
                  <a:srgbClr val="262626"/>
                </a:solidFill>
                <a:latin typeface="微软雅黑"/>
                <a:ea typeface="微软雅黑"/>
              </a:rPr>
              <a:t>　归属感建设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社团推荐 · 校园文化传递 · 归属感建设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85800"/>
          </a:xfrm>
          <a:prstGeom prst="roundRect">
            <a:avLst>
              <a:gd name="adj" fmla="val 50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+ 个性化推荐与主动提醒：</a:t>
            </a:r>
            <a:r>
              <a:rPr sz="1400" b="1">
                <a:solidFill>
                  <a:srgbClr val="262626"/>
                </a:solidFill>
                <a:latin typeface="微软雅黑"/>
                <a:ea typeface="微软雅黑"/>
              </a:rPr>
              <a:t>选课截止 · 考试周 · 新生报到等 20+ 类关键节点主动推送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差异化：错位竞争——“办事效率 vs 成长陪伴”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7F7F7F"/>
                </a:solidFill>
                <a:latin typeface="微软雅黑"/>
                <a:ea typeface="微软雅黑"/>
              </a:rPr>
              <a:t>竞品主场：办事效率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3258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智伴成长：成长陪伴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262626"/>
                </a:solidFill>
                <a:latin typeface="微软雅黑"/>
                <a:ea typeface="微软雅黑"/>
              </a:rPr>
              <a:t>一卡通服务 · 事务办理 · 官方资讯问答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金智教育（1,200+ 所高校）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新开普（一卡通约 45% 份额）</a:t>
            </a:r>
          </a:p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高校自研 AI 助手（清华/浙大等）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选课避雷 · 学习方法 · 心理经验 · 社团融入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朋辈经验众包沉淀，代际传承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“数字学长”人格 + 情绪感知</a:t>
            </a:r>
          </a:p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无人系统化覆盖的空白地带</a:t>
            </a:r>
          </a:p>
        </p:txBody>
      </p:sp>
      <p:sp>
        <p:nvSpPr>
          <p:cNvPr id="10" name="Oval 9"/>
          <p:cNvSpPr/>
          <p:nvPr/>
        </p:nvSpPr>
        <p:spPr>
          <a:xfrm>
            <a:off x="5294376" y="3017520"/>
            <a:ext cx="160020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错位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策略：合作大于对抗（直销 + 被集成） · 单点极致 · 窗口期 1—2 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核心量化指标：差异化必须可验证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09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55648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≥95%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高频问答准确率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Top 200 问题双盲抽检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755648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100%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答案附来源可溯源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系统强制机制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55648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D7D31"/>
                </a:solidFill>
                <a:latin typeface="微软雅黑"/>
                <a:ea typeface="微软雅黑"/>
              </a:rPr>
              <a:t>20+ 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主动提醒场景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选课/考试周/报到等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721607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ED7D31"/>
                </a:solidFill>
                <a:latin typeface="微软雅黑"/>
                <a:ea typeface="微软雅黑"/>
              </a:rPr>
              <a:t>≥85%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情绪识别准确率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负面情绪 5 分钟内关怀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721607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≥40%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试点校月活跃率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次月留存 ≥60%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520439"/>
            <a:ext cx="32918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3721607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4E79"/>
                </a:solidFill>
                <a:latin typeface="微软雅黑"/>
                <a:ea typeface="微软雅黑"/>
              </a:rPr>
              <a:t>≤2 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262626"/>
                </a:solidFill>
                <a:latin typeface="微软雅黑"/>
                <a:ea typeface="微软雅黑"/>
              </a:rPr>
              <a:t>文字问答首字响应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客户端埋点统计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口径说明：以上为 MVP/V1.0 验收目标值 + 验证方式，试点实测校准；</a:t>
            </a: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未达标不对外宣传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商业模式：B2B 订阅制，学校付费、学生免费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10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10515600" cy="6400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B2B2C：</a:t>
            </a:r>
            <a:r>
              <a:rPr sz="1350" b="0">
                <a:solidFill>
                  <a:srgbClr val="FFFFFF"/>
                </a:solidFill>
                <a:latin typeface="微软雅黑"/>
                <a:ea typeface="微软雅黑"/>
              </a:rPr>
              <a:t>高校按年订阅（学生端完全免费） · 辅导员减负是学校的刚性需求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基础版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2.98 万元/年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947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万人以下院校 / 二级学院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RAG 问答 + 校园知识库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0" y="21762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主打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6060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标准版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4.98 万元/年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7947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普通本科院校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+ 知识图谱 · 学业规划 · 主动提醒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331720"/>
            <a:ext cx="329184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1F4E79"/>
                </a:solidFill>
                <a:latin typeface="微软雅黑"/>
                <a:ea typeface="微软雅黑"/>
              </a:rPr>
              <a:t>旗舰版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15468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</a:rPr>
              <a:t>8.8 万元/年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79476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重点高校 / 多校区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+ 个性化推荐 · 私有化部署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销售结构：基础版 30% / 标准版 55% / 旗舰版 15% → 加权平均年费 4.95 万元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首年另收实施与数据初始化费 0.5—2 万元（校均 0.8 万元） · 续费率假设 80%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单校经济账：首年即回本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11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</a:rPr>
              <a:t>首年（含实施费）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258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续费年（第 2 年起）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合同收入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1965960"/>
            <a:ext cx="3259836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7316" y="1947672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5.75 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965960"/>
            <a:ext cx="2806293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5773" y="1947672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4.95 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1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单校毛利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2679191"/>
            <a:ext cx="1729130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6610" y="2660903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3.05 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78040" y="2679191"/>
            <a:ext cx="1729130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8610" y="2660903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3.05 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92424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全成本净贡献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06040" y="3392424"/>
            <a:ext cx="425196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22676" y="3374136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0.75 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3392424"/>
            <a:ext cx="878738" cy="384048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8218" y="3374136"/>
            <a:ext cx="1463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1.55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5137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7F7F7F"/>
                </a:solidFill>
                <a:latin typeface="微软雅黑"/>
                <a:ea typeface="微软雅黑"/>
              </a:rPr>
              <a:t>毛利率：首年 53% → 续费年边际毛利率 62%（客户存续越久，利润越厚）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623560"/>
            <a:ext cx="10515600" cy="77724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核心结论：</a:t>
            </a: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单校首年即回本 · LTV/CAC ≈ 3.7（健康线为 3）· 公司盈亏平衡点 15—16 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竞争壁垒：三重壁垒护城河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12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30552" y="1828800"/>
            <a:ext cx="685800" cy="6858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0552" y="1828800"/>
            <a:ext cx="685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4E79"/>
                </a:solidFill>
                <a:latin typeface="微软雅黑"/>
                <a:ea typeface="微软雅黑"/>
              </a:rPr>
              <a:t>数据壁垒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6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校园私域知识库 + 朋辈经验众包生态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——厂商与自研系统均不覆盖的数据形态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42432" y="182880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1828800"/>
            <a:ext cx="685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974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</a:rPr>
              <a:t>场景壁垒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33756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嵌入选课、报到、考试周关键节点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“用得上、离不开”的使用习惯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55448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54312" y="1828800"/>
            <a:ext cx="685800" cy="685800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1828800"/>
            <a:ext cx="685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974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</a:rPr>
              <a:t>角色壁垒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33756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“数字学长”人格与情感联结</a:t>
            </a:r>
          </a:p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工具型竞品难以模仿的软性壁垒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打法：错位聚焦 · 单点极致 · 以快打慢 —— 1—2 年窗口期内完成 3 校标杆与 40 所目标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竞品对比：错位优势一目了然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13 / 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417320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240280"/>
                <a:gridCol w="2240280"/>
                <a:gridCol w="2240280"/>
                <a:gridCol w="224028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智伴成长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厂商 AI 助手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高校自研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通用大模型</a:t>
                      </a:r>
                    </a:p>
                  </a:txBody>
                  <a:tcPr marL="73152" marR="73152" marT="27432" marB="27432" anchor="ctr">
                    <a:solidFill>
                      <a:srgbClr val="1F4E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产品形态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数字学长 · 全周期导学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服务 App + 办事助手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校内问答机器人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通用对话助手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朋辈经验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众包沉淀 · 代际传承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基本不涉及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基本不涉及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主动提醒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20+ 类关键场景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服务办理类为主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较少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情感角色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学长人设 + 情绪感知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数字人客服（工具）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工具属性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通用人格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收费模式</a:t>
                      </a:r>
                    </a:p>
                  </a:txBody>
                  <a:tcPr marL="73152" marR="73152" marT="27432" marB="27432" anchor="ctr"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B2B 年订阅</a:t>
                      </a:r>
                    </a:p>
                  </a:txBody>
                  <a:tcPr marL="73152" marR="73152" marT="27432" marB="27432" anchor="ctr"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项目制 / 平台费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校方投入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7F7F7F"/>
                          </a:solidFill>
                          <a:latin typeface="微软雅黑"/>
                          <a:ea typeface="微软雅黑"/>
                        </a:rPr>
                        <a:t>免费 / 订阅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F7F7F"/>
                </a:solidFill>
                <a:latin typeface="微软雅黑"/>
                <a:ea typeface="微软雅黑"/>
              </a:rPr>
              <a:t>注：竞品信息依据公开资料整理（截至 2026 年 8 月）；完整版见商业计划书表 6-1。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财务预测：三年收入与利润（万元）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14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325880"/>
            <a:ext cx="201168" cy="1463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85632" y="12618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营业收入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9281160" y="1325880"/>
            <a:ext cx="201168" cy="14630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37192" y="12618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62626"/>
                </a:solidFill>
                <a:latin typeface="微软雅黑"/>
                <a:ea typeface="微软雅黑"/>
              </a:rPr>
              <a:t>成本费用</a:t>
            </a:r>
          </a:p>
        </p:txBody>
      </p:sp>
      <p:sp>
        <p:nvSpPr>
          <p:cNvPr id="10" name="Oval 9"/>
          <p:cNvSpPr/>
          <p:nvPr/>
        </p:nvSpPr>
        <p:spPr>
          <a:xfrm>
            <a:off x="10351008" y="1307592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88752" y="12618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ED7D31"/>
                </a:solidFill>
                <a:latin typeface="微软雅黑"/>
                <a:ea typeface="微软雅黑"/>
              </a:rPr>
              <a:t>净利润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669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1 年（2027）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5146305"/>
            <a:ext cx="960120" cy="38581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3512" y="5105261"/>
            <a:ext cx="960120" cy="42685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4798833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23.5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1" y="4757789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5669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2 年（2028）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4115277"/>
            <a:ext cx="960120" cy="141684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93992" y="4149755"/>
            <a:ext cx="960120" cy="1382364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3767805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86.3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802283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84.2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6692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第 3 年（2029）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094266"/>
            <a:ext cx="960120" cy="3437853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34472" y="2401276"/>
            <a:ext cx="960120" cy="3130843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64040" y="1746794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209.4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2053804"/>
            <a:ext cx="1051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190.7</a:t>
            </a:r>
          </a:p>
        </p:txBody>
      </p:sp>
      <p:sp>
        <p:nvSpPr>
          <p:cNvPr id="27" name="Oval 26"/>
          <p:cNvSpPr/>
          <p:nvPr/>
        </p:nvSpPr>
        <p:spPr>
          <a:xfrm>
            <a:off x="2788920" y="5481724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6040" y="5225692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-2.5</a:t>
            </a:r>
          </a:p>
        </p:txBody>
      </p:sp>
      <p:sp>
        <p:nvSpPr>
          <p:cNvPr id="29" name="Oval 28"/>
          <p:cNvSpPr/>
          <p:nvPr/>
        </p:nvSpPr>
        <p:spPr>
          <a:xfrm>
            <a:off x="6629400" y="5391427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5135395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+3.0</a:t>
            </a:r>
          </a:p>
        </p:txBody>
      </p:sp>
      <p:sp>
        <p:nvSpPr>
          <p:cNvPr id="31" name="Oval 30"/>
          <p:cNvSpPr/>
          <p:nvPr/>
        </p:nvSpPr>
        <p:spPr>
          <a:xfrm>
            <a:off x="10469880" y="5123819"/>
            <a:ext cx="182880" cy="1828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7000" y="4867787"/>
            <a:ext cx="731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+19.3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880360" y="5482867"/>
            <a:ext cx="3749040" cy="90297"/>
          </a:xfrm>
          <a:prstGeom prst="line">
            <a:avLst/>
          </a:prstGeom>
          <a:ln w="28575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720840" y="5215259"/>
            <a:ext cx="3749040" cy="267608"/>
          </a:xfrm>
          <a:prstGeom prst="line">
            <a:avLst/>
          </a:prstGeom>
          <a:ln w="28575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" y="132588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累计签约：4 所 → 16 所 → 40 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第 2 年盈亏平衡 · 第 3 年净利率 9.2%（成长期 SaaS 合理区间）· 第 4 年起向 15%—25% 演进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融资需求：种子轮 50 万元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206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F4E79"/>
                </a:solidFill>
                <a:latin typeface="微软雅黑"/>
                <a:ea typeface="微软雅黑"/>
              </a:rPr>
              <a:t>50</a:t>
            </a:r>
            <a:r>
              <a:rPr sz="2400" b="1">
                <a:solidFill>
                  <a:srgbClr val="1F4E79"/>
                </a:solidFill>
                <a:latin typeface="微软雅黑"/>
                <a:ea typeface="微软雅黑"/>
              </a:rPr>
              <a:t> 万元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00" b="1">
                <a:solidFill>
                  <a:srgbClr val="262626"/>
                </a:solidFill>
                <a:latin typeface="微软雅黑"/>
                <a:ea typeface="微软雅黑"/>
              </a:rPr>
              <a:t>种子轮 · 拟出让股权 10%—15%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7F7F7F"/>
                </a:solidFill>
                <a:latin typeface="微软雅黑"/>
                <a:ea typeface="微软雅黑"/>
              </a:rPr>
              <a:t>启动时点：2027 年 6 月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7F7F7F"/>
                </a:solidFill>
                <a:latin typeface="微软雅黑"/>
                <a:ea typeface="微软雅黑"/>
              </a:rPr>
              <a:t>（大创结题 + 试点成效数据确认后）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4206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F4E79"/>
                </a:solidFill>
                <a:latin typeface="微软雅黑"/>
                <a:ea typeface="微软雅黑"/>
              </a:rPr>
              <a:t>投资逻辑：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结题背书 + 试点数据支撑估值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按 3—5 倍市销率，第 3 年估值约 630—1050 万元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577840" y="1463040"/>
          <a:ext cx="42062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784080" y="2011680"/>
            <a:ext cx="1737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</a:rPr>
              <a:t>20 万（40%）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2E75B6"/>
                </a:solidFill>
                <a:latin typeface="微软雅黑"/>
                <a:ea typeface="微软雅黑"/>
              </a:rPr>
              <a:t>10 万（20%）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ED7D31"/>
                </a:solidFill>
                <a:latin typeface="微软雅黑"/>
                <a:ea typeface="微软雅黑"/>
              </a:rPr>
              <a:t>12 万（24%）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A6C5E0"/>
                </a:solidFill>
                <a:latin typeface="微软雅黑"/>
                <a:ea typeface="微软雅黑"/>
              </a:rPr>
              <a:t>8 万（16%）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团队与导师：技术 × 商业双轮驱动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16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577840" cy="420624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002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核心团队（3 人，一人多角互补）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2194560"/>
            <a:ext cx="146304" cy="146304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148840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项目负责人 / 算法工程师</a:t>
            </a: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　徐麟阁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总体统筹 · 商业模式 · RAG 链路</a:t>
            </a:r>
          </a:p>
        </p:txBody>
      </p:sp>
      <p:sp>
        <p:nvSpPr>
          <p:cNvPr id="10" name="Oval 9"/>
          <p:cNvSpPr/>
          <p:nvPr/>
        </p:nvSpPr>
        <p:spPr>
          <a:xfrm>
            <a:off x="1143000" y="2852928"/>
            <a:ext cx="146304" cy="146304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807208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知识工程师 / 前端工程师</a:t>
            </a: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　董芮铭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知识图谱 · 客户端开发 · 交互设计</a:t>
            </a:r>
          </a:p>
        </p:txBody>
      </p:sp>
      <p:sp>
        <p:nvSpPr>
          <p:cNvPr id="12" name="Oval 11"/>
          <p:cNvSpPr/>
          <p:nvPr/>
        </p:nvSpPr>
        <p:spPr>
          <a:xfrm>
            <a:off x="1143000" y="3511296"/>
            <a:ext cx="146304" cy="146304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465576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250" b="1">
                <a:solidFill>
                  <a:srgbClr val="262626"/>
                </a:solidFill>
                <a:latin typeface="微软雅黑"/>
                <a:ea typeface="微软雅黑"/>
              </a:rPr>
              <a:t>运营与市场</a:t>
            </a: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　章宇洲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7F7F7F"/>
                </a:solidFill>
                <a:latin typeface="微软雅黑"/>
                <a:ea typeface="微软雅黑"/>
              </a:rPr>
              <a:t>内容运营 · 试点推广 · 合规管理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1417320"/>
            <a:ext cx="4709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645920"/>
            <a:ext cx="4206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ED7D31"/>
                </a:solidFill>
                <a:latin typeface="微软雅黑"/>
                <a:ea typeface="微软雅黑"/>
              </a:rPr>
              <a:t>指导教师：陈圣波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技术路线把关 · 商业模式辅导 · 融资与渠道引荐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2026 年 9 月前完成聘任；12 月前签署首份渠道合作备忘录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840480"/>
            <a:ext cx="47091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977639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依托学校创新创业学院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创业辅导 · 场地支持 · 政策对接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5029200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已具备：Word2Vec · TextCNN · 医学知识图谱实训经验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里程碑：三年三步走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17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873752"/>
            <a:ext cx="9692640" cy="4114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74519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验证期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860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2026.09 — 2027.06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校内跑通闭环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MVP · 成效报告</a:t>
            </a:r>
          </a:p>
        </p:txBody>
      </p:sp>
      <p:sp>
        <p:nvSpPr>
          <p:cNvPr id="11" name="Oval 10"/>
          <p:cNvSpPr/>
          <p:nvPr/>
        </p:nvSpPr>
        <p:spPr>
          <a:xfrm>
            <a:off x="2331720" y="4745736"/>
            <a:ext cx="310896" cy="310896"/>
          </a:xfrm>
          <a:prstGeom prst="ellipse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F4E79"/>
                </a:solidFill>
                <a:latin typeface="微软雅黑"/>
                <a:ea typeface="微软雅黑"/>
              </a:rPr>
              <a:t>签约 1—4 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0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放量期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2860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2027.07 — 2028.12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公司化运营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渠道合作 · 盈亏平衡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4745736"/>
            <a:ext cx="310896" cy="310896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507492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ED7D31"/>
                </a:solidFill>
                <a:latin typeface="微软雅黑"/>
                <a:ea typeface="微软雅黑"/>
              </a:rPr>
              <a:t>累计 16 所 · 年收入约 86 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463040"/>
            <a:ext cx="329184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98280" y="16916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平台期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860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262626"/>
                </a:solidFill>
                <a:latin typeface="微软雅黑"/>
                <a:ea typeface="微软雅黑"/>
              </a:rPr>
              <a:t>2029.01 — 2029.12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规模化复制</a:t>
            </a:r>
          </a:p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7F7F7F"/>
                </a:solidFill>
                <a:latin typeface="微软雅黑"/>
                <a:ea typeface="微软雅黑"/>
              </a:rPr>
              <a:t>SaaS 多租户 · 增值服务</a:t>
            </a:r>
          </a:p>
        </p:txBody>
      </p:sp>
      <p:sp>
        <p:nvSpPr>
          <p:cNvPr id="23" name="Oval 22"/>
          <p:cNvSpPr/>
          <p:nvPr/>
        </p:nvSpPr>
        <p:spPr>
          <a:xfrm>
            <a:off x="9555480" y="4745736"/>
            <a:ext cx="310896" cy="310896"/>
          </a:xfrm>
          <a:prstGeom prst="ellipse">
            <a:avLst/>
          </a:prstGeom>
          <a:solidFill>
            <a:srgbClr val="2E75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507492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2E75B6"/>
                </a:solidFill>
                <a:latin typeface="微软雅黑"/>
                <a:ea typeface="微软雅黑"/>
              </a:rPr>
              <a:t>累计 40 所 · 年收入约 210 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衔接大创周期：2026.09 立项 → 2027.06 结题（校内全量部署 + 首份成效报告）→ 公司化运营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118872" cy="5120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F4E79"/>
                </a:solidFill>
                <a:latin typeface="微软雅黑"/>
                <a:ea typeface="微软雅黑"/>
              </a:rPr>
              <a:t>风险与应对：Top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78992"/>
            <a:ext cx="2194560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9284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7F7F7F"/>
                </a:solidFill>
                <a:latin typeface="微软雅黑"/>
                <a:ea typeface="微软雅黑"/>
              </a:rPr>
              <a:t>18 / 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F4E79"/>
                </a:solidFill>
                <a:latin typeface="微软雅黑"/>
                <a:ea typeface="微软雅黑"/>
              </a:rPr>
              <a:t>市场风险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采购周期长、预算不确定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383280"/>
            <a:ext cx="9144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5661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F4E79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学院级轻量入口 · 标杆案例背书 · 6 个月现金安全线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</a:rPr>
              <a:t>技术风险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大模型“幻觉”损害口碑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3383280"/>
            <a:ext cx="914400" cy="27432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5661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ED7D31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RAG 约束生成 + 来源引用 · 白名单答案库 · 知识审核机制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645920"/>
            <a:ext cx="3291840" cy="3200400"/>
          </a:xfrm>
          <a:prstGeom prst="roundRect">
            <a:avLst>
              <a:gd name="adj" fmla="val 6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</a:rPr>
              <a:t>数据合规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56032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62626"/>
                </a:solidFill>
                <a:latin typeface="微软雅黑"/>
                <a:ea typeface="微软雅黑"/>
              </a:rPr>
              <a:t>学生隐私与安全审查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383280"/>
            <a:ext cx="914400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566160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2E75B6"/>
                </a:solidFill>
                <a:latin typeface="微软雅黑"/>
                <a:ea typeface="微软雅黑"/>
              </a:rPr>
              <a:t>应对：</a:t>
            </a:r>
            <a:r>
              <a:rPr sz="1200" b="0">
                <a:solidFill>
                  <a:srgbClr val="262626"/>
                </a:solidFill>
                <a:latin typeface="微软雅黑"/>
                <a:ea typeface="微软雅黑"/>
              </a:rPr>
              <a:t>私有化部署 · 最小化采集 · 脱敏训练 · 配合校方审查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257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7F7F7F"/>
                </a:solidFill>
                <a:latin typeface="微软雅黑"/>
                <a:ea typeface="微软雅黑"/>
              </a:rPr>
              <a:t>其余风险（政策/经营）应对详见商业计划书表 10-1；</a:t>
            </a:r>
            <a:r>
              <a:rPr sz="1200" b="1">
                <a:solidFill>
                  <a:srgbClr val="262626"/>
                </a:solidFill>
                <a:latin typeface="微软雅黑"/>
                <a:ea typeface="微软雅黑"/>
              </a:rPr>
              <a:t>整体原则：弹性成本与签约进度联动，保守扩张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2609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微软雅黑"/>
                <a:ea typeface="微软雅黑"/>
              </a:rPr>
              <a:t>让每一段大学时光，都有智慧与温暖相伴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6088" y="3611880"/>
            <a:ext cx="1645920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>
                <a:solidFill>
                  <a:srgbClr val="D9E2F3"/>
                </a:solidFill>
                <a:latin typeface="微软雅黑"/>
                <a:ea typeface="微软雅黑"/>
              </a:rPr>
              <a:t>从“数字学长”出发，构建可传承的校园知识生态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4B183"/>
                </a:solidFill>
                <a:latin typeface="微软雅黑"/>
                <a:ea typeface="微软雅黑"/>
              </a:rPr>
              <a:t>恳请各位老师批评指正 · 谢谢聆听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