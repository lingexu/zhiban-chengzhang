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资金用途</c:v>
                </c:pt>
              </c:strCache>
            </c:strRef>
          </c:tx>
          <c:dPt>
            <c:idx val="0"/>
            <c:spPr>
              <a:solidFill>
                <a:srgbClr val="1F4E79"/>
              </a:solidFill>
            </c:spPr>
          </c:dPt>
          <c:dPt>
            <c:idx val="1"/>
            <c:spPr>
              <a:solidFill>
                <a:srgbClr val="2E75B6"/>
              </a:solidFill>
            </c:spPr>
          </c:dPt>
          <c:dPt>
            <c:idx val="2"/>
            <c:spPr>
              <a:solidFill>
                <a:srgbClr val="ED7D31"/>
              </a:solidFill>
            </c:spPr>
          </c:dPt>
          <c:dPt>
            <c:idx val="3"/>
            <c:spPr>
              <a:solidFill>
                <a:srgbClr val="A6C5E0"/>
              </a:solidFill>
            </c:spPr>
          </c:dPt>
          <c:cat>
            <c:strRef>
              <c:f>Sheet1!$A$2:$A$5</c:f>
              <c:strCache>
                <c:ptCount val="4"/>
                <c:pt idx="0">
                  <c:v>产品研发</c:v>
                </c:pt>
                <c:pt idx="1">
                  <c:v>试点部署</c:v>
                </c:pt>
                <c:pt idx="2">
                  <c:v>市场拓展</c:v>
                </c:pt>
                <c:pt idx="3">
                  <c:v>运营储备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10</c:v>
                </c:pt>
                <c:pt idx="2">
                  <c:v>12</c:v>
                </c:pt>
                <c:pt idx="3">
                  <c:v>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100">
              <a:solidFill>
                <a:srgbClr val="262626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10972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BFD3E6"/>
                </a:solidFill>
                <a:latin typeface="微软雅黑"/>
                <a:ea typeface="微软雅黑"/>
              </a:rPr>
              <a:t>中国国际大学生创新大赛 · 高教主赛道（创意组）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微软雅黑"/>
                <a:ea typeface="微软雅黑"/>
              </a:rPr>
              <a:t>智伴成长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154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D9E2F3"/>
                </a:solidFill>
                <a:latin typeface="微软雅黑"/>
                <a:ea typeface="微软雅黑"/>
              </a:rPr>
              <a:t>—— 基于 AI 与朋辈导航的大学生全周期智能导学系统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886200"/>
            <a:ext cx="237744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4B183"/>
                </a:solidFill>
                <a:latin typeface="微软雅黑"/>
                <a:ea typeface="微软雅黑"/>
              </a:rPr>
              <a:t>让每一段大学时光，都有智慧与温暖相伴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3949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答辩人：徐麟阁　｜　团队成员：徐麟阁、董芮铭、章宇洲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指导教师：陈圣波　｜　上海大学计算机工程与科学学院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BFD3E6"/>
                </a:solidFill>
                <a:latin typeface="微软雅黑"/>
                <a:ea typeface="微软雅黑"/>
              </a:rPr>
              <a:t>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18872" cy="5120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4E79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194560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02 / 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50292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984248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883664"/>
            <a:ext cx="4023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2626"/>
                </a:solidFill>
                <a:latin typeface="微软雅黑"/>
                <a:ea typeface="微软雅黑"/>
              </a:rPr>
              <a:t>起源与调研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项目起源 · 行业市场 · 实地调研 · 痛点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0292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46520" y="1984248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883664"/>
            <a:ext cx="4023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2626"/>
                </a:solidFill>
                <a:latin typeface="微软雅黑"/>
                <a:ea typeface="微软雅黑"/>
              </a:rPr>
              <a:t>产品与核心技术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定位 · 产品 · 三大核心技术 · 指标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017520"/>
            <a:ext cx="50292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3264408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163824"/>
            <a:ext cx="4023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2626"/>
                </a:solidFill>
                <a:latin typeface="微软雅黑"/>
                <a:ea typeface="微软雅黑"/>
              </a:rPr>
              <a:t>竞品与商业模式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差异化 · 竞品对比 · 商业模式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017520"/>
            <a:ext cx="50292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3264408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163824"/>
            <a:ext cx="4023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2626"/>
                </a:solidFill>
                <a:latin typeface="微软雅黑"/>
                <a:ea typeface="微软雅黑"/>
              </a:rPr>
              <a:t>应用与财务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案例 · 反馈 · 财务 · 融资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297680"/>
            <a:ext cx="50292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4544568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443984"/>
            <a:ext cx="4023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2626"/>
                </a:solidFill>
                <a:latin typeface="微软雅黑"/>
                <a:ea typeface="微软雅黑"/>
              </a:rPr>
              <a:t>团队与成长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负责人 · 成员 · 顾问 · 学校支撑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297680"/>
            <a:ext cx="50292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4544568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443984"/>
            <a:ext cx="4023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2626"/>
                </a:solidFill>
                <a:latin typeface="微软雅黑"/>
                <a:ea typeface="微软雅黑"/>
              </a:rPr>
              <a:t>传播与社会价值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媒体报道 · 社会价值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577840"/>
            <a:ext cx="50292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1560" y="5824727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5724144"/>
            <a:ext cx="4023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2626"/>
                </a:solidFill>
                <a:latin typeface="微软雅黑"/>
                <a:ea typeface="微软雅黑"/>
              </a:rPr>
              <a:t>规划与展望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发展规划 · 风险 · 结语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18872" cy="5120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4E79"/>
                </a:solidFill>
                <a:latin typeface="微软雅黑"/>
                <a:ea typeface="微软雅黑"/>
              </a:rPr>
              <a:t>项目起源：政策 · 学校 · 个人三重驱动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194560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03 / 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32918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93392" y="1828800"/>
            <a:ext cx="950976" cy="40233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政策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68880"/>
            <a:ext cx="28346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262626"/>
                </a:solidFill>
                <a:latin typeface="微软雅黑"/>
                <a:ea typeface="微软雅黑"/>
              </a:rPr>
              <a:t>政策驱动</a:t>
            </a:r>
          </a:p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7F7F7F"/>
                </a:solidFill>
                <a:latin typeface="微软雅黑"/>
                <a:ea typeface="微软雅黑"/>
              </a:rPr>
              <a:t>教育数字化战略行动与"人工智能+"行动明确推动智能技术融入校园场景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54480"/>
            <a:ext cx="32918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05272" y="1828800"/>
            <a:ext cx="950976" cy="402336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学校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68880"/>
            <a:ext cx="28346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262626"/>
                </a:solidFill>
                <a:latin typeface="微软雅黑"/>
                <a:ea typeface="微软雅黑"/>
              </a:rPr>
              <a:t>学校培养</a:t>
            </a:r>
          </a:p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7F7F7F"/>
                </a:solidFill>
                <a:latin typeface="微软雅黑"/>
                <a:ea typeface="微软雅黑"/>
              </a:rPr>
              <a:t>机器学习、自然语言处理课程 + 三项实训（Word2Vec / TextCNN / 知识图谱）奠定技术底座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2918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17152" y="1828800"/>
            <a:ext cx="950976" cy="40233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个人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468880"/>
            <a:ext cx="28346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262626"/>
                </a:solidFill>
                <a:latin typeface="微软雅黑"/>
                <a:ea typeface="微软雅黑"/>
              </a:rPr>
              <a:t>个人经历</a:t>
            </a:r>
          </a:p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7F7F7F"/>
                </a:solidFill>
                <a:latin typeface="微软雅黑"/>
                <a:ea typeface="微软雅黑"/>
              </a:rPr>
              <a:t>团队成员亲历新生信息焦虑与朋辈经验"口口相传"的断层，萌生"数字学长"构想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120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1F4E79"/>
                </a:solidFill>
                <a:latin typeface="微软雅黑"/>
                <a:ea typeface="微软雅黑"/>
              </a:rPr>
              <a:t>由此立项：用 AI 把学长经验变成"数字学长"，服务每一位大学生的全周期成长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18872" cy="5120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4E79"/>
                </a:solidFill>
                <a:latin typeface="微软雅黑"/>
                <a:ea typeface="微软雅黑"/>
              </a:rPr>
              <a:t>行业背景：校园智能服务风口（PEST）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194560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04 / 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5120640" cy="173736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109728" cy="17373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737360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P 政策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教育数字化、AI+ 行动，高校智能服务是明确方向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120640" cy="173736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554480"/>
            <a:ext cx="109728" cy="17373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737360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2E75B6"/>
                </a:solidFill>
                <a:latin typeface="微软雅黑"/>
                <a:ea typeface="微软雅黑"/>
              </a:rPr>
              <a:t>E 经济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高校信息化预算逐年增长，年费订阅模式可核算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57600"/>
            <a:ext cx="5120640" cy="173736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657600"/>
            <a:ext cx="109728" cy="173736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840480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ED7D31"/>
                </a:solidFill>
                <a:latin typeface="微软雅黑"/>
                <a:ea typeface="微软雅黑"/>
              </a:rPr>
              <a:t>S 社会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00 后数字原生习惯；心理健康受关注；朋辈互助数字化空白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657600"/>
            <a:ext cx="5120640" cy="173736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3657600"/>
            <a:ext cx="109728" cy="17373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3840480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T 技术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大模型 / RAG / 知识图谱成熟开源，低成本落地可行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结论：校园 AI 助手赛道已被头部厂商验证，但"成长陪伴"场景仍处空白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18872" cy="5120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4E79"/>
                </a:solidFill>
                <a:latin typeface="微软雅黑"/>
                <a:ea typeface="微软雅黑"/>
              </a:rPr>
              <a:t>市场规模：TAM / SAM / SOM 三层漏斗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194560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05 / 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767" y="1600200"/>
            <a:ext cx="10424160" cy="1051560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TAM　总体市场</a:t>
            </a: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　约 15,000 万元/年</a:t>
            </a:r>
          </a:p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EAEFF6"/>
                </a:solidFill>
                <a:latin typeface="微软雅黑"/>
                <a:ea typeface="微软雅黑"/>
              </a:rPr>
              <a:t>全国 3,000+ 所高校 × 年均 5 万元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49543" y="2633472"/>
            <a:ext cx="292608" cy="292608"/>
          </a:xfrm>
          <a:prstGeom prst="down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98167" y="2971800"/>
            <a:ext cx="8595360" cy="105156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SAM　可服务市场</a:t>
            </a: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　约 4,000 万元/年</a:t>
            </a:r>
          </a:p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EAEFF6"/>
                </a:solidFill>
                <a:latin typeface="微软雅黑"/>
                <a:ea typeface="微软雅黑"/>
              </a:rPr>
              <a:t>具备采购意愿的本科院校约 800 所（约 27%）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49543" y="4005072"/>
            <a:ext cx="292608" cy="292608"/>
          </a:xfrm>
          <a:prstGeom prst="down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12567" y="4343400"/>
            <a:ext cx="6766560" cy="1051560"/>
          </a:xfrm>
          <a:prstGeom prst="roundRect">
            <a:avLst>
              <a:gd name="adj" fmla="val 12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SOM　可获取市场</a:t>
            </a: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　约 200 万元/年</a:t>
            </a:r>
          </a:p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EAEFF6"/>
                </a:solidFill>
                <a:latin typeface="微软雅黑"/>
                <a:ea typeface="微软雅黑"/>
              </a:rPr>
              <a:t>第 3 年累计签约 40 所 × 加权年费约 5 万元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5806440"/>
            <a:ext cx="2148840" cy="73152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约占 SAM 5%</a:t>
            </a: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即可达成目标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97880"/>
            <a:ext cx="7863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在校生约 3,800 万人 · 每年新增新生 1,000 万+ · 朋辈导学场景供给空白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18872" cy="5120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4E79"/>
                </a:solidFill>
                <a:latin typeface="微软雅黑"/>
                <a:ea typeface="微软雅黑"/>
              </a:rPr>
              <a:t>实地调研（1/2）：调研方法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194560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06 / 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32918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93392" y="1828800"/>
            <a:ext cx="950976" cy="40233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问卷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68880"/>
            <a:ext cx="2834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问卷调查</a:t>
            </a:r>
          </a:p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大一至大四全覆盖，目标样本 ≥300 份，线上发放、全程留存原始答卷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54480"/>
            <a:ext cx="32918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05272" y="1828800"/>
            <a:ext cx="950976" cy="402336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半结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68880"/>
            <a:ext cx="2834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半结构化访谈</a:t>
            </a:r>
          </a:p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学工教师 5—10 人：事务性答疑负担、减负意愿、采购决策链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2918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17152" y="1828800"/>
            <a:ext cx="950976" cy="40233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桌面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468880"/>
            <a:ext cx="2834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桌面研究</a:t>
            </a:r>
          </a:p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教育部政策文件；竞品上市公司年报与官网（新开普、金智教育）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526280"/>
            <a:ext cx="10515600" cy="10515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1F4E79"/>
                </a:solidFill>
                <a:latin typeface="微软雅黑"/>
                <a:ea typeface="微软雅黑"/>
              </a:rPr>
              <a:t>执行安排：2026 年 9 月启动 → 10 月底输出调研报告 → 校准产品功能优先级与财务假设</a:t>
            </a:r>
          </a:p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调研全程留痕：原始问卷、访谈记录、现场台账、数据清洗脚本，满足 2026 评审真实性要求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问卷完整设计见商业计划书附录一（8 道核心题）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18872" cy="5120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4E79"/>
                </a:solidFill>
                <a:latin typeface="微软雅黑"/>
                <a:ea typeface="微软雅黑"/>
              </a:rPr>
              <a:t>实地调研（2/2）：过程与结果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194560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07 / 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120640" cy="384048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6916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已完成：三项验证基础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286000"/>
            <a:ext cx="457200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62626"/>
                </a:solidFill>
                <a:latin typeface="微软雅黑"/>
                <a:ea typeface="微软雅黑"/>
              </a:rPr>
              <a:t>① 团队切身体验：</a:t>
            </a: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全体成员亲历新生适应、选课、备考全周期，对痛点有第一手观察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62626"/>
                </a:solidFill>
                <a:latin typeface="微软雅黑"/>
                <a:ea typeface="微软雅黑"/>
              </a:rPr>
              <a:t>② 政策与配比数据：</a:t>
            </a: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教育部规定辅导员按不低于 1:200 师生比配置，个性化需求存在结构性缺口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262626"/>
                </a:solidFill>
                <a:latin typeface="微软雅黑"/>
                <a:ea typeface="微软雅黑"/>
              </a:rPr>
              <a:t>③ 行业动向佐证：</a:t>
            </a: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金智教育、新开普 2025—2026 密集上线校园 AI 助手，需求被供给端验证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120640" cy="384048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916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D7D31"/>
                </a:solidFill>
                <a:latin typeface="微软雅黑"/>
                <a:ea typeface="微软雅黑"/>
              </a:rPr>
              <a:t>进行中：正式调研（2026.09—10）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57200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ED7D31"/>
                </a:solidFill>
                <a:latin typeface="微软雅黑"/>
                <a:ea typeface="微软雅黑"/>
              </a:rPr>
              <a:t>① 9 月上旬：</a:t>
            </a: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问卷投放（≥300 份）+ 学工教师访谈启动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ED7D31"/>
                </a:solidFill>
                <a:latin typeface="微软雅黑"/>
                <a:ea typeface="微软雅黑"/>
              </a:rPr>
              <a:t>② 9 月下旬：</a:t>
            </a: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访谈 5—10 人完成，整理记录与台账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ED7D31"/>
                </a:solidFill>
                <a:latin typeface="微软雅黑"/>
                <a:ea typeface="微软雅黑"/>
              </a:rPr>
              <a:t>③ 10 月：</a:t>
            </a: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数据清洗与假设检验（H1—H4）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ED7D31"/>
                </a:solidFill>
                <a:latin typeface="微软雅黑"/>
                <a:ea typeface="微软雅黑"/>
              </a:rPr>
              <a:t>④ 10 月底：</a:t>
            </a: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调研报告 → 校准功能优先级与财务假设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235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诚实声明：正式调研结果未出前，本答辩所有结论均标注为"已验证基础 + 待验证假设"，不引用未执行的数据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18872" cy="5120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4E79"/>
                </a:solidFill>
                <a:latin typeface="微软雅黑"/>
                <a:ea typeface="微软雅黑"/>
              </a:rPr>
              <a:t>痛点分析：学生端与学校端的双向困境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194560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08 / 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</a:rPr>
              <a:t>学生端之痛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3258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ED7D31"/>
                </a:solidFill>
                <a:latin typeface="微软雅黑"/>
                <a:ea typeface="微软雅黑"/>
              </a:rPr>
              <a:t>学校端之痛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120640" cy="356616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228600" tIns="0" bIns="0" wrap="square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▍</a:t>
            </a:r>
            <a:r>
              <a:rPr sz="1450" b="1">
                <a:solidFill>
                  <a:srgbClr val="262626"/>
                </a:solidFill>
                <a:latin typeface="微软雅黑"/>
                <a:ea typeface="微软雅黑"/>
              </a:rPr>
              <a:t>信息获取碎片化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200" b="0">
                <a:solidFill>
                  <a:srgbClr val="7F7F7F"/>
                </a:solidFill>
                <a:latin typeface="微软雅黑"/>
                <a:ea typeface="微软雅黑"/>
              </a:rPr>
              <a:t>办事指南散落在官网、部门与聊天记录中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▍</a:t>
            </a:r>
            <a:r>
              <a:rPr sz="1450" b="1">
                <a:solidFill>
                  <a:srgbClr val="262626"/>
                </a:solidFill>
                <a:latin typeface="微软雅黑"/>
                <a:ea typeface="微软雅黑"/>
              </a:rPr>
              <a:t>选课决策迷茫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200" b="0">
                <a:solidFill>
                  <a:srgbClr val="7F7F7F"/>
                </a:solidFill>
                <a:latin typeface="微软雅黑"/>
                <a:ea typeface="微软雅黑"/>
              </a:rPr>
              <a:t>学长经验靠口口相传，缺乏系统化渠道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▍</a:t>
            </a:r>
            <a:r>
              <a:rPr sz="1450" b="1">
                <a:solidFill>
                  <a:srgbClr val="262626"/>
                </a:solidFill>
                <a:latin typeface="微软雅黑"/>
                <a:ea typeface="微软雅黑"/>
              </a:rPr>
              <a:t>心理疏导滞后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200" b="0">
                <a:solidFill>
                  <a:srgbClr val="7F7F7F"/>
                </a:solidFill>
                <a:latin typeface="微软雅黑"/>
                <a:ea typeface="微软雅黑"/>
              </a:rPr>
              <a:t>愿意倾诉、不愿当面求助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120640" cy="356616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228600" tIns="0" bIns="0" wrap="square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ED7D31"/>
                </a:solidFill>
                <a:latin typeface="微软雅黑"/>
                <a:ea typeface="微软雅黑"/>
              </a:rPr>
              <a:t>▍</a:t>
            </a:r>
            <a:r>
              <a:rPr sz="1450" b="1">
                <a:solidFill>
                  <a:srgbClr val="262626"/>
                </a:solidFill>
                <a:latin typeface="微软雅黑"/>
                <a:ea typeface="微软雅黑"/>
              </a:rPr>
              <a:t>辅导员“一对多”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200" b="0">
                <a:solidFill>
                  <a:srgbClr val="7F7F7F"/>
                </a:solidFill>
                <a:latin typeface="微软雅黑"/>
                <a:ea typeface="微软雅黑"/>
              </a:rPr>
              <a:t>师生比不低于 1:200，难以兼顾个体需求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ED7D31"/>
                </a:solidFill>
                <a:latin typeface="微软雅黑"/>
                <a:ea typeface="微软雅黑"/>
              </a:rPr>
              <a:t>▍</a:t>
            </a:r>
            <a:r>
              <a:rPr sz="1450" b="1">
                <a:solidFill>
                  <a:srgbClr val="262626"/>
                </a:solidFill>
                <a:latin typeface="微软雅黑"/>
                <a:ea typeface="微软雅黑"/>
              </a:rPr>
              <a:t>经验难以沉淀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200" b="0">
                <a:solidFill>
                  <a:srgbClr val="7F7F7F"/>
                </a:solidFill>
                <a:latin typeface="微软雅黑"/>
                <a:ea typeface="微软雅黑"/>
              </a:rPr>
              <a:t>学长经验随毕业流失，无法代际传承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ED7D31"/>
                </a:solidFill>
                <a:latin typeface="微软雅黑"/>
                <a:ea typeface="微软雅黑"/>
              </a:rPr>
              <a:t>▍</a:t>
            </a:r>
            <a:r>
              <a:rPr sz="1450" b="1">
                <a:solidFill>
                  <a:srgbClr val="262626"/>
                </a:solidFill>
                <a:latin typeface="微软雅黑"/>
                <a:ea typeface="微软雅黑"/>
              </a:rPr>
              <a:t>重复答疑负担重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200" b="0">
                <a:solidFill>
                  <a:srgbClr val="7F7F7F"/>
                </a:solidFill>
                <a:latin typeface="微软雅黑"/>
                <a:ea typeface="微软雅黑"/>
              </a:rPr>
              <a:t>事务性咨询占用大量学工工时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532120"/>
            <a:ext cx="10515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262626"/>
                </a:solidFill>
                <a:latin typeface="微软雅黑"/>
                <a:ea typeface="微软雅黑"/>
              </a:rPr>
              <a:t>双向痛点 → 一个方案：</a:t>
            </a:r>
            <a:r>
              <a:rPr sz="1350" b="1">
                <a:solidFill>
                  <a:srgbClr val="ED7D31"/>
                </a:solidFill>
                <a:latin typeface="微软雅黑"/>
                <a:ea typeface="微软雅黑"/>
              </a:rPr>
              <a:t>“智伴成长”数字学长</a:t>
            </a:r>
          </a:p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7F7F7F"/>
                </a:solidFill>
                <a:latin typeface="微软雅黑"/>
                <a:ea typeface="微软雅黑"/>
              </a:rPr>
              <a:t>调研留痕：2026.09—10 问卷 ≥300 份 + 学工访谈，原始问卷/访谈记录/现场台账全程留存（可核验）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18872" cy="5120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4E79"/>
                </a:solidFill>
                <a:latin typeface="微软雅黑"/>
                <a:ea typeface="微软雅黑"/>
              </a:rPr>
              <a:t>核心定位：什么是“数字学长”？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194560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09 / 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10515600" cy="10515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</a:rPr>
              <a:t>一句话定义：</a:t>
            </a:r>
            <a:r>
              <a:rPr sz="1700" b="1">
                <a:solidFill>
                  <a:srgbClr val="262626"/>
                </a:solidFill>
                <a:latin typeface="微软雅黑"/>
                <a:ea typeface="微软雅黑"/>
              </a:rPr>
              <a:t>为每一位大学生配备的 7×24 在线智能导学助手——</a:t>
            </a:r>
          </a:p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7F7F7F"/>
                </a:solidFill>
                <a:latin typeface="微软雅黑"/>
                <a:ea typeface="微软雅黑"/>
              </a:rPr>
              <a:t>将 AI 的高效与朋辈导师的亲和力结合，覆盖大学全周期成长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971800"/>
            <a:ext cx="32918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93392" y="3200400"/>
            <a:ext cx="950976" cy="402336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9476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62626"/>
                </a:solidFill>
                <a:latin typeface="微软雅黑"/>
                <a:ea typeface="微软雅黑"/>
              </a:rPr>
              <a:t>高效的知识管理工具</a:t>
            </a:r>
          </a:p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7F7F7F"/>
                </a:solidFill>
                <a:latin typeface="微软雅黑"/>
                <a:ea typeface="微软雅黑"/>
              </a:rPr>
              <a:t>“查什么、怎么办、去哪办”，三步之内得到答案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971800"/>
            <a:ext cx="32918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05272" y="3200400"/>
            <a:ext cx="950976" cy="40233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导师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79476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62626"/>
                </a:solidFill>
                <a:latin typeface="微软雅黑"/>
                <a:ea typeface="微软雅黑"/>
              </a:rPr>
              <a:t>可靠的学业与生活导师</a:t>
            </a:r>
          </a:p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7F7F7F"/>
                </a:solidFill>
                <a:latin typeface="微软雅黑"/>
                <a:ea typeface="微软雅黑"/>
              </a:rPr>
              <a:t>选课建议 · 挂科预警 · 关键节点主动提醒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971800"/>
            <a:ext cx="32918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217152" y="3200400"/>
            <a:ext cx="950976" cy="40233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陪伴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79476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62626"/>
                </a:solidFill>
                <a:latin typeface="微软雅黑"/>
                <a:ea typeface="微软雅黑"/>
              </a:rPr>
              <a:t>有温度的陪伴者</a:t>
            </a:r>
          </a:p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7F7F7F"/>
                </a:solidFill>
                <a:latin typeface="微软雅黑"/>
                <a:ea typeface="微软雅黑"/>
              </a:rPr>
              <a:t>情绪感知与心理支持 · 危机信号自动转介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三重角色 = 工具 + 导师 + 陪伴，覆盖“适应—成长—关怀”完整用户旅程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18872" cy="5120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4E79"/>
                </a:solidFill>
                <a:latin typeface="微软雅黑"/>
                <a:ea typeface="微软雅黑"/>
              </a:rPr>
              <a:t>产品总述：四层技术架构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194560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10 / 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463040"/>
            <a:ext cx="9418320" cy="841248"/>
          </a:xfrm>
          <a:prstGeom prst="roundRect">
            <a:avLst>
              <a:gd name="adj" fmla="val 14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00200" y="1655064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581912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数据层</a:t>
            </a: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　官网公告 · 办事流程 · 课程资料 · 学长经验 → 清洗去重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61888" y="2286000"/>
            <a:ext cx="274320" cy="237744"/>
          </a:xfrm>
          <a:prstGeom prst="down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2560320"/>
            <a:ext cx="9418320" cy="841248"/>
          </a:xfrm>
          <a:prstGeom prst="roundRect">
            <a:avLst>
              <a:gd name="adj" fmla="val 14000"/>
            </a:avLst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00200" y="2752344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679191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知识层</a:t>
            </a: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　Neo4j 知识图谱 + 向量数据库——“数字学长的大脑”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61888" y="3383279"/>
            <a:ext cx="274320" cy="237744"/>
          </a:xfrm>
          <a:prstGeom prst="down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371600" y="3657600"/>
            <a:ext cx="9418320" cy="841248"/>
          </a:xfrm>
          <a:prstGeom prst="roundRect">
            <a:avLst>
              <a:gd name="adj" fmla="val 14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00200" y="3849624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776472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服务层</a:t>
            </a: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　RAG 问答引擎 · 个性化推荐 · 上下文感知（情绪识别）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961888" y="4480560"/>
            <a:ext cx="274320" cy="237744"/>
          </a:xfrm>
          <a:prstGeom prst="down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371600" y="4754880"/>
            <a:ext cx="9418320" cy="841248"/>
          </a:xfrm>
          <a:prstGeom prst="roundRect">
            <a:avLst>
              <a:gd name="adj" fmla="val 14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600200" y="4946904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4873752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交互层</a:t>
            </a: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　Electron 跨平台客户端 · 文字/语音交互 · 主动推送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技术底座：RAG 约束生成（答案可溯源） + 知识图谱关联推荐 + TextCNN 情绪识别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18872" cy="5120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4E79"/>
                </a:solidFill>
                <a:latin typeface="微软雅黑"/>
                <a:ea typeface="微软雅黑"/>
              </a:rPr>
              <a:t>四大功能模块：覆盖大学全周期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194560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11 / 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51206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508760"/>
            <a:ext cx="109728" cy="1691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709928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2E75B6"/>
                </a:solidFill>
                <a:latin typeface="微软雅黑"/>
                <a:ea typeface="微软雅黑"/>
              </a:rPr>
              <a:t>生活导航</a:t>
            </a:r>
            <a:r>
              <a:rPr sz="1300" b="0">
                <a:solidFill>
                  <a:srgbClr val="262626"/>
                </a:solidFill>
                <a:latin typeface="微软雅黑"/>
                <a:ea typeface="微软雅黑"/>
              </a:rPr>
              <a:t>　校园事务实操指引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7F7F7F"/>
                </a:solidFill>
                <a:latin typeface="微软雅黑"/>
                <a:ea typeface="微软雅黑"/>
              </a:rPr>
              <a:t>校园卡激活 · 宿舍水电 · 图书馆预约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1206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508760"/>
            <a:ext cx="109728" cy="1691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709928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</a:rPr>
              <a:t>学业规划</a:t>
            </a:r>
            <a:r>
              <a:rPr sz="1300" b="0">
                <a:solidFill>
                  <a:srgbClr val="262626"/>
                </a:solidFill>
                <a:latin typeface="微软雅黑"/>
                <a:ea typeface="微软雅黑"/>
              </a:rPr>
              <a:t>　选课与成长指导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7F7F7F"/>
                </a:solidFill>
                <a:latin typeface="微软雅黑"/>
                <a:ea typeface="微软雅黑"/>
              </a:rPr>
              <a:t>选课组合建议 · 挂科风险提醒 · 学习转型指导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474720"/>
            <a:ext cx="51206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474720"/>
            <a:ext cx="109728" cy="16916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675887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ED7D31"/>
                </a:solidFill>
                <a:latin typeface="微软雅黑"/>
                <a:ea typeface="微软雅黑"/>
              </a:rPr>
              <a:t>心理疏导</a:t>
            </a:r>
            <a:r>
              <a:rPr sz="1300" b="0">
                <a:solidFill>
                  <a:srgbClr val="262626"/>
                </a:solidFill>
                <a:latin typeface="微软雅黑"/>
                <a:ea typeface="微软雅黑"/>
              </a:rPr>
              <a:t>　情绪感知与支持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7F7F7F"/>
                </a:solidFill>
                <a:latin typeface="微软雅黑"/>
                <a:ea typeface="微软雅黑"/>
              </a:rPr>
              <a:t>情绪识别 · 心理调节方案 · 危机转介提醒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474720"/>
            <a:ext cx="51206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3474720"/>
            <a:ext cx="109728" cy="1691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3675887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2E75B6"/>
                </a:solidFill>
                <a:latin typeface="微软雅黑"/>
                <a:ea typeface="微软雅黑"/>
              </a:rPr>
              <a:t>校园融入</a:t>
            </a:r>
            <a:r>
              <a:rPr sz="1300" b="0">
                <a:solidFill>
                  <a:srgbClr val="262626"/>
                </a:solidFill>
                <a:latin typeface="微软雅黑"/>
                <a:ea typeface="微软雅黑"/>
              </a:rPr>
              <a:t>　归属感建设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7F7F7F"/>
                </a:solidFill>
                <a:latin typeface="微软雅黑"/>
                <a:ea typeface="微软雅黑"/>
              </a:rPr>
              <a:t>社团推荐 · 校园文化传递 · 归属感建设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623560"/>
            <a:ext cx="10515600" cy="685800"/>
          </a:xfrm>
          <a:prstGeom prst="roundRect">
            <a:avLst>
              <a:gd name="adj" fmla="val 50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ED7D31"/>
                </a:solidFill>
                <a:latin typeface="微软雅黑"/>
                <a:ea typeface="微软雅黑"/>
              </a:rPr>
              <a:t>+ 个性化推荐与主动提醒：</a:t>
            </a:r>
            <a:r>
              <a:rPr sz="1400" b="1">
                <a:solidFill>
                  <a:srgbClr val="262626"/>
                </a:solidFill>
                <a:latin typeface="微软雅黑"/>
                <a:ea typeface="微软雅黑"/>
              </a:rPr>
              <a:t>选课截止 · 考试周 · 新生报到等 20+ 类关键节点主动推送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18872" cy="5120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4E79"/>
                </a:solidFill>
                <a:latin typeface="微软雅黑"/>
                <a:ea typeface="微软雅黑"/>
              </a:rPr>
              <a:t>核心技术（一）：RAG 智能问答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194560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12 / 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33832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91640" y="2011679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原有技术的问题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30175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通用大模型缺乏校园私域知识</a:t>
            </a:r>
          </a:p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答案不可溯源</a:t>
            </a:r>
          </a:p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校园场景易产生"幻觉"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94560"/>
            <a:ext cx="33832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57800" y="2011679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我们的方法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06040"/>
            <a:ext cx="30175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RAG 检索增强生成：</a:t>
            </a:r>
          </a:p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理解问题 → 检索知识库</a:t>
            </a:r>
          </a:p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→ 约束生成回答</a:t>
            </a:r>
          </a:p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全部答案附来源引用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2194560"/>
            <a:ext cx="33832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23960" y="2011679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达到的效果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606040"/>
            <a:ext cx="30175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答案 100% 可溯源</a:t>
            </a:r>
          </a:p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高频问答准确率</a:t>
            </a:r>
          </a:p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≥95%（目标值）</a:t>
            </a:r>
          </a:p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白名单答案库兜底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7F7F7F"/>
                </a:solidFill>
                <a:latin typeface="微软雅黑"/>
                <a:ea typeface="微软雅黑"/>
              </a:rPr>
              <a:t>技术来源：团队 Word2Vec 实训的语义匹配能力迁移至检索排序环节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18872" cy="5120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4E79"/>
                </a:solidFill>
                <a:latin typeface="微软雅黑"/>
                <a:ea typeface="微软雅黑"/>
              </a:rPr>
              <a:t>核心技术（二）：Neo4j 校园知识图谱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194560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13 / 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33832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91640" y="2011679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原有技术的问题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30175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选课/社团/流程等关联信息散落</a:t>
            </a:r>
          </a:p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传统关系型存储</a:t>
            </a:r>
          </a:p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无法表达实体间复杂关系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94560"/>
            <a:ext cx="33832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57800" y="2011679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我们的方法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06040"/>
            <a:ext cx="30175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Neo4j 图数据库构建</a:t>
            </a:r>
          </a:p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人、事、地、物实体图谱</a:t>
            </a:r>
          </a:p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多跳查询与关联推荐</a:t>
            </a:r>
          </a:p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学长经验众包沉淀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2194560"/>
            <a:ext cx="33832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23960" y="2011679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达到的效果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606040"/>
            <a:ext cx="30175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选课组合建议</a:t>
            </a:r>
          </a:p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挂科风险提醒</a:t>
            </a:r>
          </a:p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社团匹配推荐</a:t>
            </a:r>
          </a:p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知识条目 ≥2,000（目标）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7F7F7F"/>
                </a:solidFill>
                <a:latin typeface="微软雅黑"/>
                <a:ea typeface="微软雅黑"/>
              </a:rPr>
              <a:t>技术来源：团队医学知识图谱实训的实体抽取与关系构建方法论直接复用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18872" cy="5120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4E79"/>
                </a:solidFill>
                <a:latin typeface="微软雅黑"/>
                <a:ea typeface="微软雅黑"/>
              </a:rPr>
              <a:t>核心技术（三）：主动提醒与情绪感知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194560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14 / 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33832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91640" y="2011679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原有技术的问题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30175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传统问答被动响应</a:t>
            </a:r>
          </a:p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缺乏对关键时间节点</a:t>
            </a:r>
          </a:p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与用户情绪的感知能力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94560"/>
            <a:ext cx="33832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57800" y="2011679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我们的方法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06040"/>
            <a:ext cx="30175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上下文感知引擎</a:t>
            </a:r>
          </a:p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TextCNN 情绪三分类</a:t>
            </a:r>
          </a:p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20+ 类场景提醒引擎</a:t>
            </a:r>
          </a:p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危机信号转介机制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2194560"/>
            <a:ext cx="33832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23960" y="2011679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达到的效果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606040"/>
            <a:ext cx="30175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负面情绪 5 分钟内</a:t>
            </a:r>
          </a:p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推送心理调节方案</a:t>
            </a:r>
          </a:p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选课截止/考试周</a:t>
            </a:r>
          </a:p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主动提醒（目标值）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7F7F7F"/>
                </a:solidFill>
                <a:latin typeface="微软雅黑"/>
                <a:ea typeface="微软雅黑"/>
              </a:rPr>
              <a:t>技术来源：TextCNN 文本分类实训直接转化为情绪识别模块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18872" cy="5120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4E79"/>
                </a:solidFill>
                <a:latin typeface="微软雅黑"/>
                <a:ea typeface="微软雅黑"/>
              </a:rPr>
              <a:t>核心量化指标：差异化必须可验证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194560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15 / 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32918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55648"/>
            <a:ext cx="2834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4E79"/>
                </a:solidFill>
                <a:latin typeface="微软雅黑"/>
                <a:ea typeface="微软雅黑"/>
              </a:rPr>
              <a:t>≥95%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262626"/>
                </a:solidFill>
                <a:latin typeface="微软雅黑"/>
                <a:ea typeface="微软雅黑"/>
              </a:rPr>
              <a:t>高频问答准确率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7F7F7F"/>
                </a:solidFill>
                <a:latin typeface="微软雅黑"/>
                <a:ea typeface="微软雅黑"/>
              </a:rPr>
              <a:t>Top 200 问题双盲抽检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2918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755648"/>
            <a:ext cx="2834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4E79"/>
                </a:solidFill>
                <a:latin typeface="微软雅黑"/>
                <a:ea typeface="微软雅黑"/>
              </a:rPr>
              <a:t>100%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262626"/>
                </a:solidFill>
                <a:latin typeface="微软雅黑"/>
                <a:ea typeface="微软雅黑"/>
              </a:rPr>
              <a:t>答案附来源可溯源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7F7F7F"/>
                </a:solidFill>
                <a:latin typeface="微软雅黑"/>
                <a:ea typeface="微软雅黑"/>
              </a:rPr>
              <a:t>系统强制机制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2918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755648"/>
            <a:ext cx="2834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ED7D31"/>
                </a:solidFill>
                <a:latin typeface="微软雅黑"/>
                <a:ea typeface="微软雅黑"/>
              </a:rPr>
              <a:t>20+ 类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262626"/>
                </a:solidFill>
                <a:latin typeface="微软雅黑"/>
                <a:ea typeface="微软雅黑"/>
              </a:rPr>
              <a:t>主动提醒场景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7F7F7F"/>
                </a:solidFill>
                <a:latin typeface="微软雅黑"/>
                <a:ea typeface="微软雅黑"/>
              </a:rPr>
              <a:t>选课/考试周/报到等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20439"/>
            <a:ext cx="32918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721607"/>
            <a:ext cx="2834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ED7D31"/>
                </a:solidFill>
                <a:latin typeface="微软雅黑"/>
                <a:ea typeface="微软雅黑"/>
              </a:rPr>
              <a:t>≥85%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262626"/>
                </a:solidFill>
                <a:latin typeface="微软雅黑"/>
                <a:ea typeface="微软雅黑"/>
              </a:rPr>
              <a:t>情绪识别准确率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7F7F7F"/>
                </a:solidFill>
                <a:latin typeface="微软雅黑"/>
                <a:ea typeface="微软雅黑"/>
              </a:rPr>
              <a:t>负面情绪 5 分钟内关怀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520439"/>
            <a:ext cx="32918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721607"/>
            <a:ext cx="2834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4E79"/>
                </a:solidFill>
                <a:latin typeface="微软雅黑"/>
                <a:ea typeface="微软雅黑"/>
              </a:rPr>
              <a:t>≥40%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262626"/>
                </a:solidFill>
                <a:latin typeface="微软雅黑"/>
                <a:ea typeface="微软雅黑"/>
              </a:rPr>
              <a:t>试点校月活跃率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7F7F7F"/>
                </a:solidFill>
                <a:latin typeface="微软雅黑"/>
                <a:ea typeface="微软雅黑"/>
              </a:rPr>
              <a:t>次月留存 ≥60%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520439"/>
            <a:ext cx="32918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3721607"/>
            <a:ext cx="2834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4E79"/>
                </a:solidFill>
                <a:latin typeface="微软雅黑"/>
                <a:ea typeface="微软雅黑"/>
              </a:rPr>
              <a:t>≤2 秒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262626"/>
                </a:solidFill>
                <a:latin typeface="微软雅黑"/>
                <a:ea typeface="微软雅黑"/>
              </a:rPr>
              <a:t>文字问答首字响应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7F7F7F"/>
                </a:solidFill>
                <a:latin typeface="微软雅黑"/>
                <a:ea typeface="微软雅黑"/>
              </a:rPr>
              <a:t>客户端埋点统计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7F7F7F"/>
                </a:solidFill>
                <a:latin typeface="微软雅黑"/>
                <a:ea typeface="微软雅黑"/>
              </a:rPr>
              <a:t>口径说明：以上为 MVP/V1.0 验收目标值 + 验证方式，试点实测校准；</a:t>
            </a:r>
            <a:r>
              <a:rPr sz="1200" b="1">
                <a:solidFill>
                  <a:srgbClr val="ED7D31"/>
                </a:solidFill>
                <a:latin typeface="微软雅黑"/>
                <a:ea typeface="微软雅黑"/>
              </a:rPr>
              <a:t>未达标不对外宣传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18872" cy="5120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4E79"/>
                </a:solidFill>
                <a:latin typeface="微软雅黑"/>
                <a:ea typeface="微软雅黑"/>
              </a:rPr>
              <a:t>研发历程：从实训到产品的迭代之路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194560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16 / 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32918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463040"/>
            <a:ext cx="109728" cy="17373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600200"/>
            <a:ext cx="2834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2026.01—07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实训积累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7F7F7F"/>
                </a:solidFill>
                <a:latin typeface="微软雅黑"/>
                <a:ea typeface="微软雅黑"/>
              </a:rPr>
              <a:t>Word2Vec / TextCNN / 医学知识图谱三项实训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63040"/>
            <a:ext cx="32918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63040"/>
            <a:ext cx="109728" cy="17373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600200"/>
            <a:ext cx="2834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2E75B6"/>
                </a:solidFill>
                <a:latin typeface="微软雅黑"/>
                <a:ea typeface="微软雅黑"/>
              </a:rPr>
              <a:t>2026.08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开题立项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7F7F7F"/>
                </a:solidFill>
                <a:latin typeface="微软雅黑"/>
                <a:ea typeface="微软雅黑"/>
              </a:rPr>
              <a:t>开题报告、计划书、商业计划书、答辩 PPT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2918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463040"/>
            <a:ext cx="109728" cy="173736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600200"/>
            <a:ext cx="2834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ED7D31"/>
                </a:solidFill>
                <a:latin typeface="微软雅黑"/>
                <a:ea typeface="微软雅黑"/>
              </a:rPr>
              <a:t>2026.09—10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调研与架构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7F7F7F"/>
                </a:solidFill>
                <a:latin typeface="微软雅黑"/>
                <a:ea typeface="微软雅黑"/>
              </a:rPr>
              <a:t>问卷访谈调研；四层架构设计；技术选型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520440"/>
            <a:ext cx="32918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520440"/>
            <a:ext cx="109728" cy="17373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657600"/>
            <a:ext cx="2834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2026.11—2027.01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MVP 开发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7F7F7F"/>
                </a:solidFill>
                <a:latin typeface="微软雅黑"/>
                <a:ea typeface="微软雅黑"/>
              </a:rPr>
              <a:t>RAG 问答链路；基础知识库；生活导航模块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520440"/>
            <a:ext cx="32918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3520440"/>
            <a:ext cx="109728" cy="17373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3657600"/>
            <a:ext cx="2834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2E75B6"/>
                </a:solidFill>
                <a:latin typeface="微软雅黑"/>
                <a:ea typeface="微软雅黑"/>
              </a:rPr>
              <a:t>2027.02—04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V1.0 迭代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7F7F7F"/>
                </a:solidFill>
                <a:latin typeface="微软雅黑"/>
                <a:ea typeface="微软雅黑"/>
              </a:rPr>
              <a:t>知识图谱上线；学业规划；跨平台客户端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520440"/>
            <a:ext cx="32918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3520440"/>
            <a:ext cx="109728" cy="173736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3657600"/>
            <a:ext cx="2834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ED7D31"/>
                </a:solidFill>
                <a:latin typeface="微软雅黑"/>
                <a:ea typeface="微软雅黑"/>
              </a:rPr>
              <a:t>2027.05—06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试点与结题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7F7F7F"/>
                </a:solidFill>
                <a:latin typeface="微软雅黑"/>
                <a:ea typeface="微软雅黑"/>
              </a:rPr>
              <a:t>校内全量部署；成效报告；结题验收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7F7F7F"/>
                </a:solidFill>
                <a:latin typeface="微软雅黑"/>
                <a:ea typeface="微软雅黑"/>
              </a:rPr>
              <a:t>每一步均留存过程材料：代码提交记录、实验笔记、文档版本，可追溯可核验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18872" cy="5120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4E79"/>
                </a:solidFill>
                <a:latin typeface="微软雅黑"/>
                <a:ea typeface="微软雅黑"/>
              </a:rPr>
              <a:t>知识产权布局（计划）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194560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17 / 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81360" y="105156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计划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32918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93392" y="1828800"/>
            <a:ext cx="950976" cy="40233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软件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68880"/>
            <a:ext cx="2834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软件著作权</a:t>
            </a:r>
          </a:p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目标 1 项：2027 年 1 月前提交"智伴成长智能导学系统"软著申请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54480"/>
            <a:ext cx="32918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05272" y="1828800"/>
            <a:ext cx="950976" cy="402336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查新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68880"/>
            <a:ext cx="2834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查新报告</a:t>
            </a:r>
          </a:p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2026 年 12 月完成技术查新，明确与同类产品的差异化技术特征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2918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217152" y="1828800"/>
            <a:ext cx="950976" cy="40233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代码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468880"/>
            <a:ext cx="2834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代码与文档沉淀</a:t>
            </a:r>
          </a:p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GitHub 仓库版本化留存（已执行）；实验笔记与文档全程归档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720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成果边界声明：</a:t>
            </a: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项目核心技术（RAG 链路、知识图谱、跨平台客户端）均由团队学生独立完成，</a:t>
            </a:r>
          </a:p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指导教师负责技术把关与资源协调；不存在将教师成果包装为学生成果的情形</a:t>
            </a:r>
          </a:p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ED7D31"/>
                </a:solidFill>
                <a:latin typeface="微软雅黑"/>
                <a:ea typeface="微软雅黑"/>
              </a:rPr>
              <a:t>（软著与查新均为执行计划，将在时间表节点落实）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18872" cy="5120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4E79"/>
                </a:solidFill>
                <a:latin typeface="微软雅黑"/>
                <a:ea typeface="微软雅黑"/>
              </a:rPr>
              <a:t>差异化：错位竞争——“办事效率 vs 成长陪伴”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194560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18 / 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7F7F7F"/>
                </a:solidFill>
                <a:latin typeface="微软雅黑"/>
                <a:ea typeface="微软雅黑"/>
              </a:rPr>
              <a:t>竞品主场：办事效率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32588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ED7D31"/>
                </a:solidFill>
                <a:latin typeface="微软雅黑"/>
                <a:ea typeface="微软雅黑"/>
              </a:rPr>
              <a:t>智伴成长：成长陪伴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212080" cy="3429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262626"/>
                </a:solidFill>
                <a:latin typeface="微软雅黑"/>
                <a:ea typeface="微软雅黑"/>
              </a:rPr>
              <a:t>一卡通服务 · 事务办理 · 官方资讯问答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0">
                <a:solidFill>
                  <a:srgbClr val="7F7F7F"/>
                </a:solidFill>
                <a:latin typeface="微软雅黑"/>
                <a:ea typeface="微软雅黑"/>
              </a:rPr>
              <a:t>金智教育（1,200+ 所高校）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0">
                <a:solidFill>
                  <a:srgbClr val="7F7F7F"/>
                </a:solidFill>
                <a:latin typeface="微软雅黑"/>
                <a:ea typeface="微软雅黑"/>
              </a:rPr>
              <a:t>新开普（一卡通约 45% 份额）</a:t>
            </a:r>
          </a:p>
          <a:p>
            <a:pPr algn="ctr">
              <a:lnSpc>
                <a:spcPct val="120000"/>
              </a:lnSpc>
            </a:pPr>
            <a:r>
              <a:rPr sz="1250" b="0">
                <a:solidFill>
                  <a:srgbClr val="7F7F7F"/>
                </a:solidFill>
                <a:latin typeface="微软雅黑"/>
                <a:ea typeface="微软雅黑"/>
              </a:rPr>
              <a:t>高校自研 AI 助手（清华/浙大等）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212080" cy="342900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ED7D31"/>
                </a:solidFill>
                <a:latin typeface="微软雅黑"/>
                <a:ea typeface="微软雅黑"/>
              </a:rPr>
              <a:t>选课避雷 · 学习方法 · 心理经验 · 社团融入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朋辈经验众包沉淀，代际传承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“数字学长”人格 + 情绪感知</a:t>
            </a:r>
          </a:p>
          <a:p>
            <a:pPr algn="ctr">
              <a:lnSpc>
                <a:spcPct val="120000"/>
              </a:lnSpc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无人系统化覆盖的空白地带</a:t>
            </a:r>
          </a:p>
        </p:txBody>
      </p:sp>
      <p:sp>
        <p:nvSpPr>
          <p:cNvPr id="10" name="Oval 9"/>
          <p:cNvSpPr/>
          <p:nvPr/>
        </p:nvSpPr>
        <p:spPr>
          <a:xfrm>
            <a:off x="5294376" y="3017520"/>
            <a:ext cx="1600200" cy="9601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ED7D31"/>
                </a:solidFill>
                <a:latin typeface="微软雅黑"/>
                <a:ea typeface="微软雅黑"/>
              </a:rPr>
              <a:t>错位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235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F4E79"/>
                </a:solidFill>
                <a:latin typeface="微软雅黑"/>
                <a:ea typeface="微软雅黑"/>
              </a:rPr>
              <a:t>策略：合作大于对抗（直销 + 被集成） · 单点极致 · 窗口期 1—2 年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18872" cy="5120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4E79"/>
                </a:solidFill>
                <a:latin typeface="微软雅黑"/>
                <a:ea typeface="微软雅黑"/>
              </a:rPr>
              <a:t>竞品对比：错位优势一目了然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194560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19 / 38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417320"/>
          <a:ext cx="105156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240280"/>
                <a:gridCol w="2240280"/>
                <a:gridCol w="2240280"/>
                <a:gridCol w="2240280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智伴成长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厂商 AI 助手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高校自研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通用大模型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产品形态</a:t>
                      </a:r>
                    </a:p>
                  </a:txBody>
                  <a:tcPr marL="73152" marR="73152" marT="27432" marB="27432" anchor="ctr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数字学长 · 全周期导学</a:t>
                      </a:r>
                    </a:p>
                  </a:txBody>
                  <a:tcPr marL="73152" marR="73152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7F7F7F"/>
                          </a:solidFill>
                          <a:latin typeface="微软雅黑"/>
                          <a:ea typeface="微软雅黑"/>
                        </a:rPr>
                        <a:t>服务 App + 办事助手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7F7F7F"/>
                          </a:solidFill>
                          <a:latin typeface="微软雅黑"/>
                          <a:ea typeface="微软雅黑"/>
                        </a:rPr>
                        <a:t>校内问答机器人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7F7F7F"/>
                          </a:solidFill>
                          <a:latin typeface="微软雅黑"/>
                          <a:ea typeface="微软雅黑"/>
                        </a:rPr>
                        <a:t>通用对话助手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朋辈经验</a:t>
                      </a:r>
                    </a:p>
                  </a:txBody>
                  <a:tcPr marL="73152" marR="73152" marT="27432" marB="27432" anchor="ctr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众包沉淀 · 代际传承</a:t>
                      </a:r>
                    </a:p>
                  </a:txBody>
                  <a:tcPr marL="73152" marR="73152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7F7F7F"/>
                          </a:solidFill>
                          <a:latin typeface="微软雅黑"/>
                          <a:ea typeface="微软雅黑"/>
                        </a:rPr>
                        <a:t>基本不涉及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7F7F7F"/>
                          </a:solidFill>
                          <a:latin typeface="微软雅黑"/>
                          <a:ea typeface="微软雅黑"/>
                        </a:rPr>
                        <a:t>基本不涉及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7F7F7F"/>
                          </a:solidFill>
                          <a:latin typeface="微软雅黑"/>
                          <a:ea typeface="微软雅黑"/>
                        </a:rPr>
                        <a:t>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主动提醒</a:t>
                      </a:r>
                    </a:p>
                  </a:txBody>
                  <a:tcPr marL="73152" marR="73152" marT="27432" marB="27432" anchor="ctr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20+ 类关键场景</a:t>
                      </a:r>
                    </a:p>
                  </a:txBody>
                  <a:tcPr marL="73152" marR="73152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7F7F7F"/>
                          </a:solidFill>
                          <a:latin typeface="微软雅黑"/>
                          <a:ea typeface="微软雅黑"/>
                        </a:rPr>
                        <a:t>服务办理类为主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7F7F7F"/>
                          </a:solidFill>
                          <a:latin typeface="微软雅黑"/>
                          <a:ea typeface="微软雅黑"/>
                        </a:rPr>
                        <a:t>较少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7F7F7F"/>
                          </a:solidFill>
                          <a:latin typeface="微软雅黑"/>
                          <a:ea typeface="微软雅黑"/>
                        </a:rPr>
                        <a:t>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情感角色</a:t>
                      </a:r>
                    </a:p>
                  </a:txBody>
                  <a:tcPr marL="73152" marR="73152" marT="27432" marB="27432" anchor="ctr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学长人设 + 情绪感知</a:t>
                      </a:r>
                    </a:p>
                  </a:txBody>
                  <a:tcPr marL="73152" marR="73152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7F7F7F"/>
                          </a:solidFill>
                          <a:latin typeface="微软雅黑"/>
                          <a:ea typeface="微软雅黑"/>
                        </a:rPr>
                        <a:t>数字人客服（工具）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7F7F7F"/>
                          </a:solidFill>
                          <a:latin typeface="微软雅黑"/>
                          <a:ea typeface="微软雅黑"/>
                        </a:rPr>
                        <a:t>工具属性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7F7F7F"/>
                          </a:solidFill>
                          <a:latin typeface="微软雅黑"/>
                          <a:ea typeface="微软雅黑"/>
                        </a:rPr>
                        <a:t>通用人格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收费模式</a:t>
                      </a:r>
                    </a:p>
                  </a:txBody>
                  <a:tcPr marL="73152" marR="73152" marT="27432" marB="27432" anchor="ctr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B2B 年订阅</a:t>
                      </a:r>
                    </a:p>
                  </a:txBody>
                  <a:tcPr marL="73152" marR="73152" marT="27432" marB="27432" anchor="ctr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7F7F7F"/>
                          </a:solidFill>
                          <a:latin typeface="微软雅黑"/>
                          <a:ea typeface="微软雅黑"/>
                        </a:rPr>
                        <a:t>项目制 / 平台费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7F7F7F"/>
                          </a:solidFill>
                          <a:latin typeface="微软雅黑"/>
                          <a:ea typeface="微软雅黑"/>
                        </a:rPr>
                        <a:t>校方投入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7F7F7F"/>
                          </a:solidFill>
                          <a:latin typeface="微软雅黑"/>
                          <a:ea typeface="微软雅黑"/>
                        </a:rPr>
                        <a:t>免费 / 订阅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7F7F7F"/>
                </a:solidFill>
                <a:latin typeface="微软雅黑"/>
                <a:ea typeface="微软雅黑"/>
              </a:rPr>
              <a:t>注：竞品信息依据公开资料整理（截至 2026 年 8 月）；量化目标对比见 P15。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18872" cy="5120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4E79"/>
                </a:solidFill>
                <a:latin typeface="微软雅黑"/>
                <a:ea typeface="微软雅黑"/>
              </a:rPr>
              <a:t>竞争壁垒：三重壁垒护城河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194560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20 / 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3291840" cy="356616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30552" y="1828800"/>
            <a:ext cx="685800" cy="6858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30552" y="1828800"/>
            <a:ext cx="685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9748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4E79"/>
                </a:solidFill>
                <a:latin typeface="微软雅黑"/>
                <a:ea typeface="微软雅黑"/>
              </a:rPr>
              <a:t>数据壁垒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337560"/>
            <a:ext cx="2834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校园私域知识库 + 朋辈经验众包生态</a:t>
            </a:r>
          </a:p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——厂商与自研系统均不覆盖的数据形态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54480"/>
            <a:ext cx="3291840" cy="356616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42432" y="1828800"/>
            <a:ext cx="685800" cy="68580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2432" y="1828800"/>
            <a:ext cx="685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69748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ED7D31"/>
                </a:solidFill>
                <a:latin typeface="微软雅黑"/>
                <a:ea typeface="微软雅黑"/>
              </a:rPr>
              <a:t>场景壁垒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337560"/>
            <a:ext cx="2834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嵌入选课、报到、考试周关键节点</a:t>
            </a:r>
          </a:p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“用得上、离不开”的使用习惯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554480"/>
            <a:ext cx="3291840" cy="356616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54312" y="1828800"/>
            <a:ext cx="685800" cy="68580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54312" y="1828800"/>
            <a:ext cx="685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69748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2E75B6"/>
                </a:solidFill>
                <a:latin typeface="微软雅黑"/>
                <a:ea typeface="微软雅黑"/>
              </a:rPr>
              <a:t>角色壁垒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337560"/>
            <a:ext cx="2834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“数字学长”人格与情感联结</a:t>
            </a:r>
          </a:p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工具型竞品难以模仿的软性壁垒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5321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F4E79"/>
                </a:solidFill>
                <a:latin typeface="微软雅黑"/>
                <a:ea typeface="微软雅黑"/>
              </a:rPr>
              <a:t>打法：错位聚焦 · 单点极致 · 以快打慢 —— 1—2 年窗口期内完成 3 校标杆与 40 所目标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18872" cy="5120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4E79"/>
                </a:solidFill>
                <a:latin typeface="微软雅黑"/>
                <a:ea typeface="微软雅黑"/>
              </a:rPr>
              <a:t>商业模式：B2B 订阅制，学校付费、学生免费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194560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21 / 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10515600" cy="64008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B2B2C：</a:t>
            </a:r>
            <a:r>
              <a:rPr sz="1350" b="0">
                <a:solidFill>
                  <a:srgbClr val="FFFFFF"/>
                </a:solidFill>
                <a:latin typeface="微软雅黑"/>
                <a:ea typeface="微软雅黑"/>
              </a:rPr>
              <a:t>高校按年订阅（学生端完全免费） · 辅导员减负是学校的刚性需求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32918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</a:rPr>
              <a:t>基础版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46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ED7D31"/>
                </a:solidFill>
                <a:latin typeface="微软雅黑"/>
                <a:ea typeface="微软雅黑"/>
              </a:rPr>
              <a:t>2.98 万元/年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9476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万人以下院校 / 二级学院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RAG 问答 + 校园知识库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331720"/>
            <a:ext cx="32918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75120" y="2176272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主打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6060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</a:rPr>
              <a:t>标准版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1546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ED7D31"/>
                </a:solidFill>
                <a:latin typeface="微软雅黑"/>
                <a:ea typeface="微软雅黑"/>
              </a:rPr>
              <a:t>4.98 万元/年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79476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普通本科院校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+ 知识图谱 · 学业规划 · 主动提醒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331720"/>
            <a:ext cx="32918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6060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</a:rPr>
              <a:t>旗舰版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1546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ED7D31"/>
                </a:solidFill>
                <a:latin typeface="微软雅黑"/>
                <a:ea typeface="微软雅黑"/>
              </a:rPr>
              <a:t>8.8 万元/年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79476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重点高校 / 多校区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+ 个性化推荐 · 私有化部署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663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262626"/>
                </a:solidFill>
                <a:latin typeface="微软雅黑"/>
                <a:ea typeface="微软雅黑"/>
              </a:rPr>
              <a:t>销售结构：基础版 30% / 标准版 55% / 旗舰版 15% → 加权平均年费 4.95 万元</a:t>
            </a:r>
          </a:p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7F7F7F"/>
                </a:solidFill>
                <a:latin typeface="微软雅黑"/>
                <a:ea typeface="微软雅黑"/>
              </a:rPr>
              <a:t>首年另收实施与数据初始化费 0.5—2 万元（校均 0.8 万元） · 续费率假设 80%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18872" cy="5120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4E79"/>
                </a:solidFill>
                <a:latin typeface="微软雅黑"/>
                <a:ea typeface="微软雅黑"/>
              </a:rPr>
              <a:t>单校经济账：首年即回本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194560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22 / 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首年（含实施费）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258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ED7D31"/>
                </a:solidFill>
                <a:latin typeface="微软雅黑"/>
                <a:ea typeface="微软雅黑"/>
              </a:rPr>
              <a:t>续费年（第 2 年起）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262626"/>
                </a:solidFill>
                <a:latin typeface="微软雅黑"/>
                <a:ea typeface="微软雅黑"/>
              </a:rPr>
              <a:t>合同收入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965960"/>
            <a:ext cx="3259836" cy="38404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57316" y="1947672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5.75 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1965960"/>
            <a:ext cx="2806293" cy="384048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75773" y="1947672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D7D31"/>
                </a:solidFill>
                <a:latin typeface="微软雅黑"/>
                <a:ea typeface="微软雅黑"/>
              </a:rPr>
              <a:t>4.95 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79191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262626"/>
                </a:solidFill>
                <a:latin typeface="微软雅黑"/>
                <a:ea typeface="微软雅黑"/>
              </a:rPr>
              <a:t>单校毛利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40" y="2679191"/>
            <a:ext cx="1729130" cy="38404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6610" y="2660903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3.05 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78040" y="2679191"/>
            <a:ext cx="1729130" cy="384048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98610" y="2660903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D7D31"/>
                </a:solidFill>
                <a:latin typeface="微软雅黑"/>
                <a:ea typeface="微软雅黑"/>
              </a:rPr>
              <a:t>3.05 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392424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262626"/>
                </a:solidFill>
                <a:latin typeface="微软雅黑"/>
                <a:ea typeface="微软雅黑"/>
              </a:rPr>
              <a:t>全成本净贡献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06040" y="3392424"/>
            <a:ext cx="425196" cy="38404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22676" y="3374136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0.75 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8040" y="3392424"/>
            <a:ext cx="878738" cy="384048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48218" y="3374136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D7D31"/>
                </a:solidFill>
                <a:latin typeface="微软雅黑"/>
                <a:ea typeface="微软雅黑"/>
              </a:rPr>
              <a:t>1.55 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151376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7F7F7F"/>
                </a:solidFill>
                <a:latin typeface="微软雅黑"/>
                <a:ea typeface="微软雅黑"/>
              </a:rPr>
              <a:t>毛利率：首年 53% → 续费年边际毛利率 62%（客户存续越久，利润越厚）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623560"/>
            <a:ext cx="10515600" cy="777240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核心结论：</a:t>
            </a: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单校首年即回本 · LTV/CAC ≈ 3.7（健康线为 3）· 公司盈亏平衡点 15—16 所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18872" cy="5120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4E79"/>
                </a:solidFill>
                <a:latin typeface="微软雅黑"/>
                <a:ea typeface="微软雅黑"/>
              </a:rPr>
              <a:t>应用案例：三层试点规划（目标）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194560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23 / 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81360" y="105156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目标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329184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93392" y="1920240"/>
            <a:ext cx="950976" cy="40233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案例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14600"/>
            <a:ext cx="28346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本校全量部署</a:t>
            </a:r>
          </a:p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校级 · 学生工作部门</a:t>
            </a:r>
          </a:p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新生入学教育嵌入</a:t>
            </a:r>
          </a:p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2027.03 目标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45920"/>
            <a:ext cx="329184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05272" y="1920240"/>
            <a:ext cx="950976" cy="40233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案例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514600"/>
            <a:ext cx="28346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学院付费试点</a:t>
            </a:r>
          </a:p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院级 · 二级学院</a:t>
            </a:r>
          </a:p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标准版订阅</a:t>
            </a:r>
          </a:p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2027.05 目标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29184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217152" y="1920240"/>
            <a:ext cx="950976" cy="402336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514600"/>
            <a:ext cx="28346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省内 3 校复制</a:t>
            </a:r>
          </a:p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校级 · 信息化部门</a:t>
            </a:r>
          </a:p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3 校案例包输出</a:t>
            </a:r>
          </a:p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2027.06 起目标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7F7F7F"/>
                </a:solidFill>
                <a:latin typeface="微软雅黑"/>
                <a:ea typeface="微软雅黑"/>
              </a:rPr>
              <a:t>说明：应用案例为按里程碑规划的试点目标，尚未发生；</a:t>
            </a: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MVP 完成后按"本校 → 学院 → 省内"逐层推进并留存真实案例材料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18872" cy="5120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4E79"/>
                </a:solidFill>
                <a:latin typeface="微软雅黑"/>
                <a:ea typeface="微软雅黑"/>
              </a:rPr>
              <a:t>用户反馈：内测计划与反馈机制（计划）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194560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24 / 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81360" y="105156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计划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51206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554480"/>
            <a:ext cx="109728" cy="17373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737360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500 人内测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2027.01 校内招募 500 人规模内测，覆盖大一至大四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1206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54480"/>
            <a:ext cx="109728" cy="173736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737360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ED7D31"/>
                </a:solidFill>
                <a:latin typeface="微软雅黑"/>
                <a:ea typeface="微软雅黑"/>
              </a:rPr>
              <a:t>周度复盘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点踩率、未解决问题 Top10、满意度变化逐周跟踪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657600"/>
            <a:ext cx="51206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657600"/>
            <a:ext cx="109728" cy="17373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840480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2E75B6"/>
                </a:solidFill>
                <a:latin typeface="微软雅黑"/>
                <a:ea typeface="微软雅黑"/>
              </a:rPr>
              <a:t>效果目标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满意度 ≥4.5/5；月活跃率 ≥40%；次月留存 ≥60%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657600"/>
            <a:ext cx="51206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3657600"/>
            <a:ext cx="109728" cy="17373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840480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反馈闭环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用户反馈沉淀为知识库更新与迭代排期的直接依据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说明：内测与反馈机制为执行计划，正式反馈数据将在 2027.01 起沉淀并如实呈现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18872" cy="5120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4E79"/>
                </a:solidFill>
                <a:latin typeface="微软雅黑"/>
                <a:ea typeface="微软雅黑"/>
              </a:rPr>
              <a:t>用户需求调研：问卷设计（节选）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194560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25 / 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685800" cy="502920"/>
          </a:xfrm>
          <a:prstGeom prst="roundRect">
            <a:avLst>
              <a:gd name="adj" fmla="val 3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685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435608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入学初期办理校园事务，平均需要多长时间找到准确指引？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43560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7F7F7F"/>
                </a:solidFill>
                <a:latin typeface="微软雅黑"/>
                <a:ea typeface="微软雅黑"/>
              </a:rPr>
              <a:t>验证信息获取效率痛点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94560"/>
            <a:ext cx="685800" cy="502920"/>
          </a:xfrm>
          <a:prstGeom prst="roundRect">
            <a:avLst>
              <a:gd name="adj" fmla="val 3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685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212848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你通常通过哪些渠道获取办事信息？（多选）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221284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7F7F7F"/>
                </a:solidFill>
                <a:latin typeface="微软雅黑"/>
                <a:ea typeface="微软雅黑"/>
              </a:rPr>
              <a:t>确定产品替代对象与渠道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971800"/>
            <a:ext cx="685800" cy="502920"/>
          </a:xfrm>
          <a:prstGeom prst="roundRect">
            <a:avLst>
              <a:gd name="adj" fmla="val 3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971800"/>
            <a:ext cx="685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990088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选课时学长学姐的建议对你的决策影响有多大？（1—5 分）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99008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7F7F7F"/>
                </a:solidFill>
                <a:latin typeface="微软雅黑"/>
                <a:ea typeface="微软雅黑"/>
              </a:rPr>
              <a:t>验证学业规划模块需求强度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749039"/>
            <a:ext cx="685800" cy="502920"/>
          </a:xfrm>
          <a:prstGeom prst="roundRect">
            <a:avLst>
              <a:gd name="adj" fmla="val 3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749039"/>
            <a:ext cx="685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767327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当感到焦虑或压力大时，你更愿意向谁倾诉？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767327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7F7F7F"/>
                </a:solidFill>
                <a:latin typeface="微软雅黑"/>
                <a:ea typeface="微软雅黑"/>
              </a:rPr>
              <a:t>验证心理疏导模块接受度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526280"/>
            <a:ext cx="685800" cy="502920"/>
          </a:xfrm>
          <a:prstGeom prst="roundRect">
            <a:avLst>
              <a:gd name="adj" fmla="val 3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526280"/>
            <a:ext cx="685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Q5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544568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如果有一个 7×24 在线的"数字学长"，你最希望它解决哪三类问题？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454456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7F7F7F"/>
                </a:solidFill>
                <a:latin typeface="微软雅黑"/>
                <a:ea typeface="微软雅黑"/>
              </a:rPr>
              <a:t>确定功能优先级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303520"/>
            <a:ext cx="685800" cy="502920"/>
          </a:xfrm>
          <a:prstGeom prst="roundRect">
            <a:avLst>
              <a:gd name="adj" fmla="val 3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303520"/>
            <a:ext cx="685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Q6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5321807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（面向学工教师）日常答疑类咨询占您工作时间比例约多少？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5321807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7F7F7F"/>
                </a:solidFill>
                <a:latin typeface="微软雅黑"/>
                <a:ea typeface="微软雅黑"/>
              </a:rPr>
              <a:t>验证 B 端减负价值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完整 8 题问卷与学工访谈提纲见商业计划书附录一 · 目标样本 ≥300 份 · 2026.09—10 执行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18872" cy="5120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4E79"/>
                </a:solidFill>
                <a:latin typeface="微软雅黑"/>
                <a:ea typeface="微软雅黑"/>
              </a:rPr>
              <a:t>财务预测：三年收入与利润（万元）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194560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26 / 38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325880"/>
            <a:ext cx="201168" cy="1463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85632" y="12618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营业收入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9281160" y="1325880"/>
            <a:ext cx="201168" cy="14630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37192" y="12618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成本费用</a:t>
            </a:r>
          </a:p>
        </p:txBody>
      </p:sp>
      <p:sp>
        <p:nvSpPr>
          <p:cNvPr id="10" name="Oval 9"/>
          <p:cNvSpPr/>
          <p:nvPr/>
        </p:nvSpPr>
        <p:spPr>
          <a:xfrm>
            <a:off x="10351008" y="1307592"/>
            <a:ext cx="182880" cy="18288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88752" y="12618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D7D31"/>
                </a:solidFill>
                <a:latin typeface="微软雅黑"/>
                <a:ea typeface="微软雅黑"/>
              </a:rPr>
              <a:t>净利润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566928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262626"/>
                </a:solidFill>
                <a:latin typeface="微软雅黑"/>
                <a:ea typeface="微软雅黑"/>
              </a:rPr>
              <a:t>第 1 年（2027）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5146305"/>
            <a:ext cx="960120" cy="38581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3512" y="5105261"/>
            <a:ext cx="960120" cy="42685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4798833"/>
            <a:ext cx="1051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23.5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1" y="4757789"/>
            <a:ext cx="1051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7F7F7F"/>
                </a:solidFill>
                <a:latin typeface="微软雅黑"/>
                <a:ea typeface="微软雅黑"/>
              </a:rPr>
              <a:t>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66928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262626"/>
                </a:solidFill>
                <a:latin typeface="微软雅黑"/>
                <a:ea typeface="微软雅黑"/>
              </a:rPr>
              <a:t>第 2 年（2028）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4115277"/>
            <a:ext cx="960120" cy="141684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93992" y="4164530"/>
            <a:ext cx="960120" cy="1367589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3560" y="3767805"/>
            <a:ext cx="1051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86.3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3817058"/>
            <a:ext cx="1051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7F7F7F"/>
                </a:solidFill>
                <a:latin typeface="微软雅黑"/>
                <a:ea typeface="微软雅黑"/>
              </a:rPr>
              <a:t>83.3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566928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262626"/>
                </a:solidFill>
                <a:latin typeface="微软雅黑"/>
                <a:ea typeface="微软雅黑"/>
              </a:rPr>
              <a:t>第 3 年（2029）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2094266"/>
            <a:ext cx="960120" cy="3437853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634472" y="2411127"/>
            <a:ext cx="960120" cy="312099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4040" y="1746794"/>
            <a:ext cx="1051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209.4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88752" y="2063655"/>
            <a:ext cx="1051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7F7F7F"/>
                </a:solidFill>
                <a:latin typeface="微软雅黑"/>
                <a:ea typeface="微软雅黑"/>
              </a:rPr>
              <a:t>190.1</a:t>
            </a:r>
          </a:p>
        </p:txBody>
      </p:sp>
      <p:sp>
        <p:nvSpPr>
          <p:cNvPr id="27" name="Oval 26"/>
          <p:cNvSpPr/>
          <p:nvPr/>
        </p:nvSpPr>
        <p:spPr>
          <a:xfrm>
            <a:off x="2788920" y="5481724"/>
            <a:ext cx="182880" cy="18288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06040" y="5225692"/>
            <a:ext cx="731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D7D31"/>
                </a:solidFill>
                <a:latin typeface="微软雅黑"/>
                <a:ea typeface="微软雅黑"/>
              </a:rPr>
              <a:t>-2.5</a:t>
            </a:r>
          </a:p>
        </p:txBody>
      </p:sp>
      <p:sp>
        <p:nvSpPr>
          <p:cNvPr id="29" name="Oval 28"/>
          <p:cNvSpPr/>
          <p:nvPr/>
        </p:nvSpPr>
        <p:spPr>
          <a:xfrm>
            <a:off x="6629400" y="5391427"/>
            <a:ext cx="182880" cy="18288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5135395"/>
            <a:ext cx="731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D7D31"/>
                </a:solidFill>
                <a:latin typeface="微软雅黑"/>
                <a:ea typeface="微软雅黑"/>
              </a:rPr>
              <a:t>+3.0</a:t>
            </a:r>
          </a:p>
        </p:txBody>
      </p:sp>
      <p:sp>
        <p:nvSpPr>
          <p:cNvPr id="31" name="Oval 30"/>
          <p:cNvSpPr/>
          <p:nvPr/>
        </p:nvSpPr>
        <p:spPr>
          <a:xfrm>
            <a:off x="10469880" y="5123819"/>
            <a:ext cx="182880" cy="18288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87000" y="4867787"/>
            <a:ext cx="731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D7D31"/>
                </a:solidFill>
                <a:latin typeface="微软雅黑"/>
                <a:ea typeface="微软雅黑"/>
              </a:rPr>
              <a:t>+19.3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2880360" y="5482867"/>
            <a:ext cx="3749040" cy="90297"/>
          </a:xfrm>
          <a:prstGeom prst="line">
            <a:avLst/>
          </a:prstGeom>
          <a:ln w="28575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6720840" y="5215259"/>
            <a:ext cx="3749040" cy="267608"/>
          </a:xfrm>
          <a:prstGeom prst="line">
            <a:avLst/>
          </a:prstGeom>
          <a:ln w="28575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22960" y="1325880"/>
            <a:ext cx="7223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62626"/>
                </a:solidFill>
                <a:latin typeface="微软雅黑"/>
                <a:ea typeface="微软雅黑"/>
              </a:rPr>
              <a:t>累计签约：4 所 → 16 所 → 40 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6080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7F7F7F"/>
                </a:solidFill>
                <a:latin typeface="微软雅黑"/>
                <a:ea typeface="微软雅黑"/>
              </a:rPr>
              <a:t>第 2 年盈亏平衡 · 第 3 年净利率 9.2%（成长期 SaaS 合理区间）· 第 4 年起向 15%—25% 演进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18872" cy="5120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4E79"/>
                </a:solidFill>
                <a:latin typeface="微软雅黑"/>
                <a:ea typeface="微软雅黑"/>
              </a:rPr>
              <a:t>敏感性分析：最坏情况仍可控（第 3 年）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194560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27 / 38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645920"/>
          <a:ext cx="9427464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441448"/>
                <a:gridCol w="2441448"/>
                <a:gridCol w="2441448"/>
              </a:tblGrid>
              <a:tr h="804672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情景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关键变量变动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第 3 年收入（万元）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第 3 年净利润（万元）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基准情景</a:t>
                      </a:r>
                    </a:p>
                  </a:txBody>
                  <a:tcPr marL="73152" marR="73152" marT="36576" marB="36576" anchor="ctr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209.4</a:t>
                      </a:r>
                    </a:p>
                  </a:txBody>
                  <a:tcPr marL="73152" marR="73152" marT="36576" marB="36576" anchor="ctr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19.3</a:t>
                      </a:r>
                    </a:p>
                  </a:txBody>
                  <a:tcPr marL="73152" marR="73152" marT="36576" marB="36576" anchor="ctr">
                    <a:solidFill>
                      <a:srgbClr val="DEEAF6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保守情景 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7F7F7F"/>
                          </a:solidFill>
                          <a:latin typeface="微软雅黑"/>
                          <a:ea typeface="微软雅黑"/>
                        </a:rPr>
                        <a:t>签约学校数下降 30%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7F7F7F"/>
                          </a:solidFill>
                          <a:latin typeface="微软雅黑"/>
                          <a:ea typeface="微软雅黑"/>
                        </a:rPr>
                        <a:t>约 168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7F7F7F"/>
                          </a:solidFill>
                          <a:latin typeface="微软雅黑"/>
                          <a:ea typeface="微软雅黑"/>
                        </a:rPr>
                        <a:t>约 -8 至 +6（收缩弹性成本后）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保守情景 B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7F7F7F"/>
                          </a:solidFill>
                          <a:latin typeface="微软雅黑"/>
                          <a:ea typeface="微软雅黑"/>
                        </a:rPr>
                        <a:t>客单价下降 20%（结构恶化）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7F7F7F"/>
                          </a:solidFill>
                          <a:latin typeface="微软雅黑"/>
                          <a:ea typeface="微软雅黑"/>
                        </a:rPr>
                        <a:t>约 167.5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7F7F7F"/>
                          </a:solidFill>
                          <a:latin typeface="微软雅黑"/>
                          <a:ea typeface="微软雅黑"/>
                        </a:rPr>
                        <a:t>约 -23（触发止损预案）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保守情景 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7F7F7F"/>
                          </a:solidFill>
                          <a:latin typeface="微软雅黑"/>
                          <a:ea typeface="微软雅黑"/>
                        </a:rPr>
                        <a:t>续费率由 80% 降至 60%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7F7F7F"/>
                          </a:solidFill>
                          <a:latin typeface="微软雅黑"/>
                          <a:ea typeface="微软雅黑"/>
                        </a:rPr>
                        <a:t>约 194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7F7F7F"/>
                          </a:solidFill>
                          <a:latin typeface="微软雅黑"/>
                          <a:ea typeface="微软雅黑"/>
                        </a:rPr>
                        <a:t>约 +3.5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897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结论：单一不利变动下项目仍接近盈亏平衡；弹性成本与签约节奏联动 + 6 个月现金储备兜底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18872" cy="5120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4E79"/>
                </a:solidFill>
                <a:latin typeface="微软雅黑"/>
                <a:ea typeface="微软雅黑"/>
              </a:rPr>
              <a:t>融资需求：种子轮 50 万元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194560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28 / 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2062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1F4E79"/>
                </a:solidFill>
                <a:latin typeface="微软雅黑"/>
                <a:ea typeface="微软雅黑"/>
              </a:rPr>
              <a:t>50</a:t>
            </a: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 万元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种子轮 · 拟出让股权 10%—15%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7F7F7F"/>
                </a:solidFill>
                <a:latin typeface="微软雅黑"/>
                <a:ea typeface="微软雅黑"/>
              </a:rPr>
              <a:t>启动时点：2027 年 6 月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7F7F7F"/>
                </a:solidFill>
                <a:latin typeface="微软雅黑"/>
                <a:ea typeface="微软雅黑"/>
              </a:rPr>
              <a:t>（大创结题 + 试点成效数据确认后）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4206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1F4E79"/>
                </a:solidFill>
                <a:latin typeface="微软雅黑"/>
                <a:ea typeface="微软雅黑"/>
              </a:rPr>
              <a:t>投资逻辑：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结题背书 + 试点数据支撑估值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按 3—5 倍市销率，第 3 年估值约 630—1050 万元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577840" y="1463040"/>
          <a:ext cx="42062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784080" y="2011680"/>
            <a:ext cx="17373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20 万（40%）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2E75B6"/>
                </a:solidFill>
                <a:latin typeface="微软雅黑"/>
                <a:ea typeface="微软雅黑"/>
              </a:rPr>
              <a:t>10 万（20%）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ED7D31"/>
                </a:solidFill>
                <a:latin typeface="微软雅黑"/>
                <a:ea typeface="微软雅黑"/>
              </a:rPr>
              <a:t>12 万（24%）</a:t>
            </a:r>
          </a:p>
          <a:p>
            <a:pPr algn="l">
              <a:lnSpc>
                <a:spcPct val="110000"/>
              </a:lnSpc>
            </a:pPr>
            <a:r>
              <a:rPr sz="1200" b="1">
                <a:solidFill>
                  <a:srgbClr val="A6C5E0"/>
                </a:solidFill>
                <a:latin typeface="微软雅黑"/>
                <a:ea typeface="微软雅黑"/>
              </a:rPr>
              <a:t>8 万（16%）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18872" cy="5120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4E79"/>
                </a:solidFill>
                <a:latin typeface="微软雅黑"/>
                <a:ea typeface="微软雅黑"/>
              </a:rPr>
              <a:t>项目延伸：从产品到校园知识生态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194560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29 / 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329184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93392" y="1828800"/>
            <a:ext cx="950976" cy="40233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产品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68880"/>
            <a:ext cx="2834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产品延伸</a:t>
            </a:r>
          </a:p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V2.0 SaaS 多租户版本；增值服务（考研规划包、竞赛辅导资料库）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54480"/>
            <a:ext cx="329184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05272" y="1828800"/>
            <a:ext cx="950976" cy="40233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生态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68880"/>
            <a:ext cx="2834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生态延伸</a:t>
            </a:r>
          </a:p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开放学长经验贡献入口，众包沉淀 + 审核机制 → 校园知识生态平台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29184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17152" y="1828800"/>
            <a:ext cx="950976" cy="402336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模式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468880"/>
            <a:ext cx="2834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模式延伸</a:t>
            </a:r>
          </a:p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区域代理授权探索；从"卖软件"走向"运营校园知识生态"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3776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三步走：</a:t>
            </a: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第 1—2 年订阅收入为主 → 第 2—3 年叠加增值服务 → 第 3 年起平台化与区域代理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18872" cy="5120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4E79"/>
                </a:solidFill>
                <a:latin typeface="微软雅黑"/>
                <a:ea typeface="微软雅黑"/>
              </a:rPr>
              <a:t>团队（1/4）：负责人徐麟阁与个人成长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194560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30 / 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212080" cy="420624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69164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徐麟阁 · 项目负责人 / 算法工程师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377440"/>
            <a:ext cx="45720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262626"/>
                </a:solidFill>
                <a:latin typeface="微软雅黑"/>
                <a:ea typeface="微软雅黑"/>
              </a:rPr>
              <a:t>职责：</a:t>
            </a: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总体统筹与进度管理；商业模式设计与融资对接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262626"/>
                </a:solidFill>
                <a:latin typeface="微软雅黑"/>
                <a:ea typeface="微软雅黑"/>
              </a:rPr>
              <a:t>产出：</a:t>
            </a: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四层系统架构设计；RAG 问答链路搭建；财务模型与商业计划书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ED7D31"/>
                </a:solidFill>
                <a:latin typeface="微软雅黑"/>
                <a:ea typeface="微软雅黑"/>
              </a:rPr>
              <a:t>个人成长：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262626"/>
                </a:solidFill>
                <a:latin typeface="微软雅黑"/>
                <a:ea typeface="微软雅黑"/>
              </a:rPr>
              <a:t>知识：</a:t>
            </a: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课堂 NLP 理论 → RAG 工程落地（提示工程、检索优化）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262626"/>
                </a:solidFill>
                <a:latin typeface="微软雅黑"/>
                <a:ea typeface="微软雅黑"/>
              </a:rPr>
              <a:t>能力：</a:t>
            </a: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完成实训作业 → 独立设计架构 → 牵头产品化与商业测算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62626"/>
                </a:solidFill>
                <a:latin typeface="微软雅黑"/>
                <a:ea typeface="微软雅黑"/>
              </a:rPr>
              <a:t>价值观：</a:t>
            </a: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用 AI 传承朋辈经验，让"传帮带"数字化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9164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D7D31"/>
                </a:solidFill>
                <a:latin typeface="微软雅黑"/>
                <a:ea typeface="微软雅黑"/>
              </a:rPr>
              <a:t>困难—帮扶—解决（真实经历）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77440"/>
            <a:ext cx="45720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62626"/>
                </a:solidFill>
                <a:latin typeface="微软雅黑"/>
                <a:ea typeface="微软雅黑"/>
              </a:rPr>
              <a:t>【技术困难案例：</a:t>
            </a: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调试 RAG 检索时召回率长期不达标 → 在指导教师陈圣波建议下系统对比多种切分与嵌入策略 → 最终召回质量达标，掌握了检索链路优化的完整方法】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62626"/>
                </a:solidFill>
                <a:latin typeface="微软雅黑"/>
                <a:ea typeface="微软雅黑"/>
              </a:rPr>
              <a:t>【实践困难案例：</a:t>
            </a: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调研问卷初版回收率低 → 依托创新创业学院渠道与辅导员协助改进投放方式 → 完成目标样本回收】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ED7D31"/>
                </a:solidFill>
                <a:latin typeface="微软雅黑"/>
                <a:ea typeface="微软雅黑"/>
              </a:rPr>
              <a:t>提示：</a:t>
            </a:r>
            <a:r>
              <a:rPr sz="1200" b="0">
                <a:solidFill>
                  <a:srgbClr val="7F7F7F"/>
                </a:solidFill>
                <a:latin typeface="微软雅黑"/>
                <a:ea typeface="微软雅黑"/>
              </a:rPr>
              <a:t>两个案例须替换为真实经历后再答辩，细节要经得起追问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18872" cy="5120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4E79"/>
                </a:solidFill>
                <a:latin typeface="微软雅黑"/>
                <a:ea typeface="微软雅黑"/>
              </a:rPr>
              <a:t>团队（2/4）：团队成员与团队成长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194560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31 / 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董芮铭 · 知识工程师 / 前端工程师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职责：知识图谱构建（Neo4j）与数据治理；跨平台客户端开发与交互设计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7F7F7F"/>
                </a:solidFill>
                <a:latin typeface="微软雅黑"/>
                <a:ea typeface="微软雅黑"/>
              </a:rPr>
              <a:t>成长：实体抽取练习 → 图谱 Schema 设计 → 独立完成客户端工程化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D7D31"/>
                </a:solidFill>
                <a:latin typeface="微软雅黑"/>
                <a:ea typeface="微软雅黑"/>
              </a:rPr>
              <a:t>章宇洲 · 运营与市场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职责：需求调研执行与内容运营；试点推广与客户成功；文档与合规管理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7F7F7F"/>
                </a:solidFill>
                <a:latin typeface="微软雅黑"/>
                <a:ea typeface="微软雅黑"/>
              </a:rPr>
              <a:t>成长：问卷设计 → 访谈执行 → 运营体系搭建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526280"/>
            <a:ext cx="10515600" cy="12344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sz="1350" b="1">
                <a:solidFill>
                  <a:srgbClr val="1F4E79"/>
                </a:solidFill>
                <a:latin typeface="微软雅黑"/>
                <a:ea typeface="微软雅黑"/>
              </a:rPr>
              <a:t>团队成长：</a:t>
            </a: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三人小队磨合 → 一人多角分工 → 模块牵头人制，协作效率与项目质量同步提升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贡献台账（2026 新增评审项）：每人对应模块产出均可逐项核查，与研发时间线匹配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18872" cy="5120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4E79"/>
                </a:solidFill>
                <a:latin typeface="微软雅黑"/>
                <a:ea typeface="微软雅黑"/>
              </a:rPr>
              <a:t>团队（3/4）：专家顾问（行业 / 商业 / 学术技术）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194560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32 / 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81360" y="105156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待确认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329184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93392" y="1828800"/>
            <a:ext cx="950976" cy="40233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行业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68880"/>
            <a:ext cx="2834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行业顾问</a:t>
            </a:r>
          </a:p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【姓名 / 单位】</a:t>
            </a:r>
          </a:p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教育信息化行业经验</a:t>
            </a:r>
          </a:p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对接高校客户与渠道资源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54480"/>
            <a:ext cx="329184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05272" y="1828800"/>
            <a:ext cx="950976" cy="40233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商业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68880"/>
            <a:ext cx="2834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商业顾问</a:t>
            </a:r>
          </a:p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【姓名 / 单位】</a:t>
            </a:r>
          </a:p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SaaS 商业模式与融资</a:t>
            </a:r>
          </a:p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辅导财务规划与股权设计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29184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217152" y="1828800"/>
            <a:ext cx="950976" cy="402336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学术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468880"/>
            <a:ext cx="2834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学术技术顾问</a:t>
            </a:r>
          </a:p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【姓名 / 单位】</a:t>
            </a:r>
          </a:p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NLP / 知识图谱方向</a:t>
            </a:r>
          </a:p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算法方案评审与前沿把关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7F7F7F"/>
                </a:solidFill>
                <a:latin typeface="微软雅黑"/>
                <a:ea typeface="微软雅黑"/>
              </a:rPr>
              <a:t>说明：顾问团队均为行业、商业、学术技术方向（按评审要求不放本校教师）；</a:t>
            </a:r>
          </a:p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7F7F7F"/>
                </a:solidFill>
                <a:latin typeface="微软雅黑"/>
                <a:ea typeface="微软雅黑"/>
              </a:rPr>
              <a:t>指导教师陈圣波与学校资源见下一页"学校给予项目的支撑"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18872" cy="5120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4E79"/>
                </a:solidFill>
                <a:latin typeface="微软雅黑"/>
                <a:ea typeface="微软雅黑"/>
              </a:rPr>
              <a:t>团队（4/4）：学校给予项目的支撑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194560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33 / 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329184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93392" y="1828800"/>
            <a:ext cx="950976" cy="40233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指导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68880"/>
            <a:ext cx="2834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指导教师</a:t>
            </a:r>
          </a:p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陈圣波——技术路线把关、算法方案评审、高校资源对接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54480"/>
            <a:ext cx="329184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05272" y="1828800"/>
            <a:ext cx="950976" cy="40233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创新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68880"/>
            <a:ext cx="2834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创新创业学院</a:t>
            </a:r>
          </a:p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创业辅导、场地支持、政策对接；渠道引荐（2026.12 前合作备忘录目标）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29184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17152" y="1828800"/>
            <a:ext cx="950976" cy="402336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课程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468880"/>
            <a:ext cx="2834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课程与实训基础</a:t>
            </a:r>
          </a:p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机器学习、NLP 课程 + 三项实训项目，直接转化为核心技术能力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学创融合：项目创意产生、技术研发、落地实践与课程培养环节一一对应，体现"以赛促学"育人成效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18872" cy="5120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4E79"/>
                </a:solidFill>
                <a:latin typeface="微软雅黑"/>
                <a:ea typeface="微软雅黑"/>
              </a:rPr>
              <a:t>媒体报道与传播计划（计划）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194560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34 / 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81360" y="105156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计划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51206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554480"/>
            <a:ext cx="109728" cy="17373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737360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校内传播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官方公众号"学长说"系列专栏；嵌入新生入学教育场景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1206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54480"/>
            <a:ext cx="109728" cy="173736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737360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ED7D31"/>
                </a:solidFill>
                <a:latin typeface="微软雅黑"/>
                <a:ea typeface="微软雅黑"/>
              </a:rPr>
              <a:t>行业露出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高教会 / 教育信息化展会案例输出（2027）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657600"/>
            <a:ext cx="51206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657600"/>
            <a:ext cx="109728" cy="17373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840480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2E75B6"/>
                </a:solidFill>
                <a:latin typeface="微软雅黑"/>
                <a:ea typeface="微软雅黑"/>
              </a:rPr>
              <a:t>媒体报道目标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2027 年内 1—2 篇（区域教育媒体 / 行业自媒体）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657600"/>
            <a:ext cx="51206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3657600"/>
            <a:ext cx="109728" cy="17373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840480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内容资产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试点成效白皮书：问答量、减负时长、满意度数据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说明：以上为传播计划；实际媒体报道形成后将如实补充报道链接与版面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18872" cy="5120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4E79"/>
                </a:solidFill>
                <a:latin typeface="微软雅黑"/>
                <a:ea typeface="微软雅黑"/>
              </a:rPr>
              <a:t>社会价值：就业 · 行业 · 家国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194560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35 / 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329184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93392" y="1828800"/>
            <a:ext cx="950976" cy="40233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就业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68880"/>
            <a:ext cx="2834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就业带动</a:t>
            </a:r>
          </a:p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公司化运营提供全职与实习岗位；校园实习生计划吸纳低年级学生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54480"/>
            <a:ext cx="329184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05272" y="1828800"/>
            <a:ext cx="950976" cy="40233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行业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68880"/>
            <a:ext cx="2834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行业进步</a:t>
            </a:r>
          </a:p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为高校智能导学提供可复制方案；推动朋辈教育数字化成为行业方向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29184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17152" y="1828800"/>
            <a:ext cx="950976" cy="402336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家国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468880"/>
            <a:ext cx="2834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262626"/>
                </a:solidFill>
                <a:latin typeface="微软雅黑"/>
                <a:ea typeface="微软雅黑"/>
              </a:rPr>
              <a:t>家国情怀</a:t>
            </a:r>
          </a:p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服务立德树人：用技术把校园经验代际传承，让教育公平延伸到信息服务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项目使命：</a:t>
            </a: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让每一段大学时光，都有智慧与温暖相伴——用 AI 补位朋辈互助，让育人资源普惠每一位学生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18872" cy="5120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4E79"/>
                </a:solidFill>
                <a:latin typeface="微软雅黑"/>
                <a:ea typeface="微软雅黑"/>
              </a:rPr>
              <a:t>发展规划：三年三步走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194560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36 / 38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873752"/>
            <a:ext cx="9692640" cy="4114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463040"/>
            <a:ext cx="32918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19" y="1691640"/>
            <a:ext cx="1371600" cy="41148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验证期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28600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62626"/>
                </a:solidFill>
                <a:latin typeface="微软雅黑"/>
                <a:ea typeface="微软雅黑"/>
              </a:rPr>
              <a:t>2026.09 — 2027.06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74320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校内跑通闭环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MVP · 成效报告</a:t>
            </a:r>
          </a:p>
        </p:txBody>
      </p:sp>
      <p:sp>
        <p:nvSpPr>
          <p:cNvPr id="11" name="Oval 10"/>
          <p:cNvSpPr/>
          <p:nvPr/>
        </p:nvSpPr>
        <p:spPr>
          <a:xfrm>
            <a:off x="2331720" y="4745736"/>
            <a:ext cx="310896" cy="310896"/>
          </a:xfrm>
          <a:prstGeom prst="ellipse">
            <a:avLst/>
          </a:prstGeom>
          <a:solidFill>
            <a:srgbClr val="1F4E7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签约 1—4 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463040"/>
            <a:ext cx="32918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0" y="1691640"/>
            <a:ext cx="1371600" cy="411480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放量期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28600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62626"/>
                </a:solidFill>
                <a:latin typeface="微软雅黑"/>
                <a:ea typeface="微软雅黑"/>
              </a:rPr>
              <a:t>2027.07 — 2028.12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74320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公司化运营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渠道合作 · 盈亏平衡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0" y="4745736"/>
            <a:ext cx="310896" cy="310896"/>
          </a:xfrm>
          <a:prstGeom prst="ellipse">
            <a:avLst/>
          </a:prstGeom>
          <a:solidFill>
            <a:srgbClr val="ED7D3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507492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ED7D31"/>
                </a:solidFill>
                <a:latin typeface="微软雅黑"/>
                <a:ea typeface="微软雅黑"/>
              </a:rPr>
              <a:t>累计 16 所 · 年收入约 86 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463040"/>
            <a:ext cx="32918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98280" y="1691640"/>
            <a:ext cx="1371600" cy="41148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平台期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28600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62626"/>
                </a:solidFill>
                <a:latin typeface="微软雅黑"/>
                <a:ea typeface="微软雅黑"/>
              </a:rPr>
              <a:t>2029.01 — 2029.12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74320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规模化复制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7F7F7F"/>
                </a:solidFill>
                <a:latin typeface="微软雅黑"/>
                <a:ea typeface="微软雅黑"/>
              </a:rPr>
              <a:t>SaaS 多租户 · 增值服务</a:t>
            </a:r>
          </a:p>
        </p:txBody>
      </p:sp>
      <p:sp>
        <p:nvSpPr>
          <p:cNvPr id="23" name="Oval 22"/>
          <p:cNvSpPr/>
          <p:nvPr/>
        </p:nvSpPr>
        <p:spPr>
          <a:xfrm>
            <a:off x="9555480" y="4745736"/>
            <a:ext cx="310896" cy="310896"/>
          </a:xfrm>
          <a:prstGeom prst="ellipse">
            <a:avLst/>
          </a:prstGeom>
          <a:solidFill>
            <a:srgbClr val="2E75B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507492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2E75B6"/>
                </a:solidFill>
                <a:latin typeface="微软雅黑"/>
                <a:ea typeface="微软雅黑"/>
              </a:rPr>
              <a:t>累计 40 所 · 年收入约 210 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衔接大创周期：2026.09 立项 → 2027.06 结题（校内全量部署 + 首份成效报告）→ 公司化运营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118872" cy="5120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4E79"/>
                </a:solidFill>
                <a:latin typeface="微软雅黑"/>
                <a:ea typeface="微软雅黑"/>
              </a:rPr>
              <a:t>风险与应对：Top 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194560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F7F7F"/>
                </a:solidFill>
                <a:latin typeface="微软雅黑"/>
                <a:ea typeface="微软雅黑"/>
              </a:rPr>
              <a:t>37 / 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3291840" cy="320040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2024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4E79"/>
                </a:solidFill>
                <a:latin typeface="微软雅黑"/>
                <a:ea typeface="微软雅黑"/>
              </a:rPr>
              <a:t>市场风险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采购周期长、预算不确定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3383280"/>
            <a:ext cx="914400" cy="274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56616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应对：</a:t>
            </a: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学院级轻量入口 · 标杆案例背书 · 6 个月现金安全线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45920"/>
            <a:ext cx="3291840" cy="320040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92024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ED7D31"/>
                </a:solidFill>
                <a:latin typeface="微软雅黑"/>
                <a:ea typeface="微软雅黑"/>
              </a:rPr>
              <a:t>技术风险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56032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大模型“幻觉”损害口碑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3383280"/>
            <a:ext cx="914400" cy="2743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56616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ED7D31"/>
                </a:solidFill>
                <a:latin typeface="微软雅黑"/>
                <a:ea typeface="微软雅黑"/>
              </a:rPr>
              <a:t>应对：</a:t>
            </a: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RAG 约束生成 + 来源引用 · 白名单答案库 · 知识审核机制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45920"/>
            <a:ext cx="3291840" cy="320040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92024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2E75B6"/>
                </a:solidFill>
                <a:latin typeface="微软雅黑"/>
                <a:ea typeface="微软雅黑"/>
              </a:rPr>
              <a:t>数据合规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56032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学生隐私与安全审查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3383280"/>
            <a:ext cx="914400" cy="274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56616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2E75B6"/>
                </a:solidFill>
                <a:latin typeface="微软雅黑"/>
                <a:ea typeface="微软雅黑"/>
              </a:rPr>
              <a:t>应对：</a:t>
            </a: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私有化部署 · 最小化采集 · 脱敏训练 · 配合校方审查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20640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7F7F7F"/>
                </a:solidFill>
                <a:latin typeface="微软雅黑"/>
                <a:ea typeface="微软雅黑"/>
              </a:rPr>
              <a:t>其余风险（政策/经营）应对详见商业计划书表 10-1；</a:t>
            </a:r>
            <a:r>
              <a:rPr sz="1200" b="1">
                <a:solidFill>
                  <a:srgbClr val="262626"/>
                </a:solidFill>
                <a:latin typeface="微软雅黑"/>
                <a:ea typeface="微软雅黑"/>
              </a:rPr>
              <a:t>整体原则：弹性成本与签约进度联动，保守扩张</a:t>
            </a:r>
          </a:p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ED7D31"/>
                </a:solidFill>
                <a:latin typeface="微软雅黑"/>
                <a:ea typeface="微软雅黑"/>
              </a:rPr>
              <a:t>2026 规则红线：材料真实性一票否决——本项目数据保守测算并如实标注假设，知识产权由团队持有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2609" cy="10972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让每一段大学时光，都有智慧与温暖相伴</a:t>
            </a:r>
          </a:p>
        </p:txBody>
      </p:sp>
      <p:sp>
        <p:nvSpPr>
          <p:cNvPr id="5" name="Rectangle 4"/>
          <p:cNvSpPr/>
          <p:nvPr/>
        </p:nvSpPr>
        <p:spPr>
          <a:xfrm>
            <a:off x="5276088" y="3611880"/>
            <a:ext cx="164592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D9E2F3"/>
                </a:solidFill>
                <a:latin typeface="微软雅黑"/>
                <a:ea typeface="微软雅黑"/>
              </a:rPr>
              <a:t>从"数字学长"出发，构建可传承的校园知识生态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4B183"/>
                </a:solidFill>
                <a:latin typeface="微软雅黑"/>
                <a:ea typeface="微软雅黑"/>
              </a:rPr>
              <a:t>恳请各位老师批评指正 · 谢谢聆听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